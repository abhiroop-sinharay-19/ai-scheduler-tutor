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4" r:id="rId1"/>
  </p:sldMasterIdLst>
  <p:notesMasterIdLst>
    <p:notesMasterId r:id="rId50"/>
  </p:notesMasterIdLst>
  <p:handoutMasterIdLst>
    <p:handoutMasterId r:id="rId51"/>
  </p:handoutMasterIdLst>
  <p:sldIdLst>
    <p:sldId id="325" r:id="rId2"/>
    <p:sldId id="256" r:id="rId3"/>
    <p:sldId id="335" r:id="rId4"/>
    <p:sldId id="257" r:id="rId5"/>
    <p:sldId id="346" r:id="rId6"/>
    <p:sldId id="327" r:id="rId7"/>
    <p:sldId id="258" r:id="rId8"/>
    <p:sldId id="278" r:id="rId9"/>
    <p:sldId id="259" r:id="rId10"/>
    <p:sldId id="279" r:id="rId11"/>
    <p:sldId id="280" r:id="rId12"/>
    <p:sldId id="260" r:id="rId13"/>
    <p:sldId id="281" r:id="rId14"/>
    <p:sldId id="282" r:id="rId15"/>
    <p:sldId id="261" r:id="rId16"/>
    <p:sldId id="262" r:id="rId17"/>
    <p:sldId id="283" r:id="rId18"/>
    <p:sldId id="263" r:id="rId19"/>
    <p:sldId id="264" r:id="rId20"/>
    <p:sldId id="265" r:id="rId21"/>
    <p:sldId id="328" r:id="rId22"/>
    <p:sldId id="329" r:id="rId23"/>
    <p:sldId id="309" r:id="rId24"/>
    <p:sldId id="266" r:id="rId25"/>
    <p:sldId id="336" r:id="rId26"/>
    <p:sldId id="333" r:id="rId27"/>
    <p:sldId id="267" r:id="rId28"/>
    <p:sldId id="268" r:id="rId29"/>
    <p:sldId id="331" r:id="rId30"/>
    <p:sldId id="332" r:id="rId31"/>
    <p:sldId id="310" r:id="rId32"/>
    <p:sldId id="271" r:id="rId33"/>
    <p:sldId id="272" r:id="rId34"/>
    <p:sldId id="273" r:id="rId35"/>
    <p:sldId id="274" r:id="rId36"/>
    <p:sldId id="298" r:id="rId37"/>
    <p:sldId id="275" r:id="rId38"/>
    <p:sldId id="299" r:id="rId39"/>
    <p:sldId id="276" r:id="rId40"/>
    <p:sldId id="300" r:id="rId41"/>
    <p:sldId id="301" r:id="rId42"/>
    <p:sldId id="292" r:id="rId43"/>
    <p:sldId id="302" r:id="rId44"/>
    <p:sldId id="293" r:id="rId45"/>
    <p:sldId id="342" r:id="rId46"/>
    <p:sldId id="343" r:id="rId47"/>
    <p:sldId id="344" r:id="rId48"/>
    <p:sldId id="345" r:id="rId49"/>
  </p:sldIdLst>
  <p:sldSz cx="13716000" cy="9144000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FF"/>
    <a:srgbClr val="FF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-1200" y="-102"/>
      </p:cViewPr>
      <p:guideLst>
        <p:guide orient="horz" pos="1536"/>
        <p:guide pos="1961"/>
      </p:guideLst>
    </p:cSldViewPr>
  </p:slideViewPr>
  <p:outlineViewPr>
    <p:cViewPr>
      <p:scale>
        <a:sx n="33" d="100"/>
        <a:sy n="33" d="100"/>
      </p:scale>
      <p:origin x="0" y="345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-1914" y="-84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 smtClean="0">
                <a:latin typeface="Helvetica" charset="0"/>
              </a:defRPr>
            </a:lvl1pPr>
          </a:lstStyle>
          <a:p>
            <a:pPr>
              <a:defRPr/>
            </a:pPr>
            <a:fld id="{35B0396E-E6BF-44A3-9DF0-E40ABF9372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6278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1050" y="688975"/>
            <a:ext cx="5262563" cy="350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427538"/>
            <a:ext cx="5100637" cy="419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 smtClean="0">
                <a:latin typeface="Helvetica" charset="0"/>
              </a:defRPr>
            </a:lvl1pPr>
          </a:lstStyle>
          <a:p>
            <a:pPr>
              <a:defRPr/>
            </a:pPr>
            <a:fld id="{5B611C12-4FA3-4011-8556-D47589BE61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574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97970" y="93007"/>
            <a:ext cx="13520058" cy="8922935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943100" y="4267200"/>
            <a:ext cx="9601200" cy="2133600"/>
          </a:xfrm>
        </p:spPr>
        <p:txBody>
          <a:bodyPr/>
          <a:lstStyle>
            <a:lvl1pPr marL="0" indent="0" algn="ctr">
              <a:buNone/>
              <a:defRPr sz="3700">
                <a:solidFill>
                  <a:schemeClr val="tx2"/>
                </a:solidFill>
              </a:defRPr>
            </a:lvl1pPr>
            <a:lvl2pPr marL="653110" indent="0" algn="ctr">
              <a:buNone/>
            </a:lvl2pPr>
            <a:lvl3pPr marL="1306220" indent="0" algn="ctr">
              <a:buNone/>
            </a:lvl3pPr>
            <a:lvl4pPr marL="1959331" indent="0" algn="ctr">
              <a:buNone/>
            </a:lvl4pPr>
            <a:lvl5pPr marL="2612441" indent="0" algn="ctr">
              <a:buNone/>
            </a:lvl5pPr>
            <a:lvl6pPr marL="3265551" indent="0" algn="ctr">
              <a:buNone/>
            </a:lvl6pPr>
            <a:lvl7pPr marL="3918661" indent="0" algn="ctr">
              <a:buNone/>
            </a:lvl7pPr>
            <a:lvl8pPr marL="4571771" indent="0" algn="ctr">
              <a:buNone/>
            </a:lvl8pPr>
            <a:lvl9pPr marL="5224882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fld id="{6F42FDE4-A7DD-41A7-A0A6-9B649FB43336}" type="slidenum">
              <a:rPr kumimoji="0" lang="en-US" smtClean="0"/>
              <a:t>‹#›</a:t>
            </a:fld>
            <a:endParaRPr kumimoji="0" lang="en-US" sz="20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4397" y="1932405"/>
            <a:ext cx="13532306" cy="203646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94397" y="1862294"/>
            <a:ext cx="13532306" cy="160773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94397" y="3968865"/>
            <a:ext cx="13532306" cy="147376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2007908"/>
            <a:ext cx="12344400" cy="1960033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371600" y="1930400"/>
            <a:ext cx="11658600" cy="6096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97970" y="93007"/>
            <a:ext cx="13520058" cy="8922935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1270001"/>
            <a:ext cx="11658600" cy="1816100"/>
          </a:xfrm>
        </p:spPr>
        <p:txBody>
          <a:bodyPr anchor="b" anchorCtr="0"/>
          <a:lstStyle>
            <a:lvl1pPr algn="l">
              <a:buNone/>
              <a:defRPr sz="57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397251"/>
            <a:ext cx="11658600" cy="1784349"/>
          </a:xfrm>
        </p:spPr>
        <p:txBody>
          <a:bodyPr anchor="t" anchorCtr="0"/>
          <a:lstStyle>
            <a:lvl1pPr marL="0" indent="0">
              <a:buNone/>
              <a:defRPr sz="3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00150" y="8229600"/>
            <a:ext cx="6000750" cy="6096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104119" y="3169107"/>
            <a:ext cx="13520273" cy="12192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03719" y="3121967"/>
            <a:ext cx="13520672" cy="6095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02459" y="3291840"/>
            <a:ext cx="13521932" cy="6096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9456" y="8278368"/>
            <a:ext cx="685800" cy="6096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371600" y="1930400"/>
            <a:ext cx="5623560" cy="6096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400925" y="1930400"/>
            <a:ext cx="5623560" cy="6096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64067"/>
            <a:ext cx="11658600" cy="1524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930400"/>
            <a:ext cx="5600700" cy="1016000"/>
          </a:xfrm>
          <a:noFill/>
          <a:ln w="12700" cap="sq" cmpd="sng" algn="ctr">
            <a:noFill/>
            <a:prstDash val="solid"/>
          </a:ln>
        </p:spPr>
        <p:txBody>
          <a:bodyPr lIns="130622" anchor="b" anchorCtr="0">
            <a:noAutofit/>
          </a:bodyPr>
          <a:lstStyle>
            <a:lvl1pPr marL="0" indent="0">
              <a:buNone/>
              <a:defRPr sz="3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429500" y="1930400"/>
            <a:ext cx="5600700" cy="1016000"/>
          </a:xfrm>
          <a:noFill/>
          <a:ln w="12700" cap="sq" cmpd="sng" algn="ctr">
            <a:noFill/>
            <a:prstDash val="solid"/>
          </a:ln>
        </p:spPr>
        <p:txBody>
          <a:bodyPr lIns="130622" anchor="b" anchorCtr="0">
            <a:noAutofit/>
          </a:bodyPr>
          <a:lstStyle>
            <a:lvl1pPr marL="0" indent="0">
              <a:buNone/>
              <a:defRPr sz="3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371600" y="2997200"/>
            <a:ext cx="5600700" cy="51816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7429500" y="2997200"/>
            <a:ext cx="5600700" cy="51816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6012" y="93007"/>
            <a:ext cx="13520058" cy="8924544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64067"/>
            <a:ext cx="11658600" cy="1524000"/>
          </a:xfrm>
        </p:spPr>
        <p:txBody>
          <a:bodyPr anchor="b" anchorCtr="0"/>
          <a:lstStyle>
            <a:lvl1pPr algn="l">
              <a:buNone/>
              <a:defRPr sz="57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371600" y="2133600"/>
            <a:ext cx="2857500" cy="5994400"/>
          </a:xfrm>
        </p:spPr>
        <p:txBody>
          <a:bodyPr/>
          <a:lstStyle>
            <a:lvl1pPr marL="0" indent="0">
              <a:buNone/>
              <a:defRPr sz="2600"/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4457700" y="2133600"/>
            <a:ext cx="8572500" cy="59944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534067"/>
            <a:ext cx="10972800" cy="696384"/>
          </a:xfrm>
        </p:spPr>
        <p:txBody>
          <a:bodyPr anchor="ctr">
            <a:noAutofit/>
          </a:bodyPr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7261100"/>
            <a:ext cx="10972800" cy="914400"/>
          </a:xfrm>
        </p:spPr>
        <p:txBody>
          <a:bodyPr/>
          <a:lstStyle>
            <a:lvl1pPr marL="0" indent="0">
              <a:buFontTx/>
              <a:buNone/>
              <a:defRPr sz="23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8229600"/>
            <a:ext cx="5829300" cy="6096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9456" y="8278368"/>
            <a:ext cx="685800" cy="6096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102460" y="6244740"/>
            <a:ext cx="13510260" cy="12192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2763" y="6200633"/>
            <a:ext cx="13509959" cy="6095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02766" y="6364299"/>
            <a:ext cx="13509956" cy="65076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2463" y="88901"/>
            <a:ext cx="13502810" cy="6108700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46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44100" y="366189"/>
            <a:ext cx="3017520" cy="780203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366187"/>
            <a:ext cx="8343900" cy="780203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3716000" cy="9144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6012" y="93007"/>
            <a:ext cx="13520058" cy="8924544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371600" y="366184"/>
            <a:ext cx="11658600" cy="1524000"/>
          </a:xfrm>
          <a:prstGeom prst="rect">
            <a:avLst/>
          </a:prstGeom>
        </p:spPr>
        <p:txBody>
          <a:bodyPr lIns="130622" tIns="65311" rIns="130622" bIns="130622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371600" y="1930400"/>
            <a:ext cx="11658600" cy="6096000"/>
          </a:xfrm>
          <a:prstGeom prst="rect">
            <a:avLst/>
          </a:prstGeom>
        </p:spPr>
        <p:txBody>
          <a:bodyPr lIns="130622" tIns="65311" rIns="130622" bIns="65311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9258300" y="8255000"/>
            <a:ext cx="3714750" cy="635000"/>
          </a:xfrm>
          <a:prstGeom prst="rect">
            <a:avLst/>
          </a:prstGeom>
        </p:spPr>
        <p:txBody>
          <a:bodyPr lIns="130622" tIns="65311" rIns="130622" bIns="65311" anchor="ctr" anchorCtr="0"/>
          <a:lstStyle>
            <a:lvl1pPr algn="r" eaLnBrk="1" latinLnBrk="0" hangingPunct="1">
              <a:defRPr kumimoji="0" sz="20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564CF2E0-CCC4-4E1E-9902-C3C36AB3FDA4}" type="datetimeFigureOut">
              <a:rPr lang="en-US" smtClean="0"/>
              <a:t>7/22/2025</a:t>
            </a:fld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371600" y="8229600"/>
            <a:ext cx="5943600" cy="609600"/>
          </a:xfrm>
          <a:prstGeom prst="rect">
            <a:avLst/>
          </a:prstGeom>
        </p:spPr>
        <p:txBody>
          <a:bodyPr lIns="130622" tIns="65311" rIns="130622" bIns="65311" anchor="ctr" anchorCtr="0"/>
          <a:lstStyle>
            <a:lvl1pPr eaLnBrk="1" latinLnBrk="0" hangingPunct="1">
              <a:defRPr kumimoji="0" sz="2000">
                <a:solidFill>
                  <a:schemeClr val="tx2"/>
                </a:solidFill>
              </a:defRPr>
            </a:lvl1pPr>
          </a:lstStyle>
          <a:p>
            <a:endParaRPr kumimoji="0" lang="en-US" sz="20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219456" y="8280400"/>
            <a:ext cx="6858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20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t>‹#›</a:t>
            </a:fld>
            <a:endParaRPr kumimoji="0" lang="en-US" sz="2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</p:sldLayoutIdLst>
  <p:txStyles>
    <p:titleStyle>
      <a:lvl1pPr algn="l" rtl="0" eaLnBrk="1" latinLnBrk="0" hangingPunct="1">
        <a:spcBef>
          <a:spcPct val="0"/>
        </a:spcBef>
        <a:buNone/>
        <a:defRPr kumimoji="0" sz="57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91866" indent="-391866" algn="l" rtl="0" eaLnBrk="1" latinLnBrk="0" hangingPunct="1">
        <a:spcBef>
          <a:spcPts val="829"/>
        </a:spcBef>
        <a:buClr>
          <a:schemeClr val="accent1"/>
        </a:buClr>
        <a:buSzPct val="85000"/>
        <a:buFont typeface="Wingdings 2"/>
        <a:buChar char=""/>
        <a:defRPr kumimoji="0"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783732" indent="-326555" algn="l" rtl="0" eaLnBrk="1" latinLnBrk="0" hangingPunct="1">
        <a:spcBef>
          <a:spcPts val="529"/>
        </a:spcBef>
        <a:buClr>
          <a:schemeClr val="accent2"/>
        </a:buClr>
        <a:buSzPct val="85000"/>
        <a:buFont typeface="Wingdings 2"/>
        <a:buChar char=""/>
        <a:defRPr kumimoji="0"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175598" indent="-326555" algn="l" rtl="0" eaLnBrk="1" latinLnBrk="0" hangingPunct="1">
        <a:spcBef>
          <a:spcPts val="529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567464" indent="-326555" algn="l" rtl="0" eaLnBrk="1" latinLnBrk="0" hangingPunct="1">
        <a:spcBef>
          <a:spcPts val="529"/>
        </a:spcBef>
        <a:buClr>
          <a:schemeClr val="accent3"/>
        </a:buClr>
        <a:buSzPct val="80000"/>
        <a:buFont typeface="Wingdings 2"/>
        <a:buChar char="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1959331" indent="-326555" algn="l" rtl="0" eaLnBrk="1" latinLnBrk="0" hangingPunct="1">
        <a:spcBef>
          <a:spcPts val="529"/>
        </a:spcBef>
        <a:buClr>
          <a:schemeClr val="accent3"/>
        </a:buClr>
        <a:buFontTx/>
        <a:buChar char="o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2351197" indent="-326555" algn="l" rtl="0" eaLnBrk="1" latinLnBrk="0" hangingPunct="1">
        <a:spcBef>
          <a:spcPts val="529"/>
        </a:spcBef>
        <a:buClr>
          <a:schemeClr val="accent3"/>
        </a:buClr>
        <a:buChar char="•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063" indent="-326555" algn="l" rtl="0" eaLnBrk="1" latinLnBrk="0" hangingPunct="1">
        <a:spcBef>
          <a:spcPts val="529"/>
        </a:spcBef>
        <a:buClr>
          <a:schemeClr val="accent2"/>
        </a:buClr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3134929" indent="-326555" algn="l" rtl="0" eaLnBrk="1" latinLnBrk="0" hangingPunct="1">
        <a:spcBef>
          <a:spcPts val="529"/>
        </a:spcBef>
        <a:buClr>
          <a:schemeClr val="accent1">
            <a:tint val="60000"/>
          </a:schemeClr>
        </a:buClr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3526795" indent="-326555" algn="l" rtl="0" eaLnBrk="1" latinLnBrk="0" hangingPunct="1">
        <a:spcBef>
          <a:spcPts val="529"/>
        </a:spcBef>
        <a:buClr>
          <a:schemeClr val="accent2">
            <a:tint val="60000"/>
          </a:schemeClr>
        </a:buClr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8800" dirty="0" smtClean="0"/>
              <a:t>Processes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466975" y="369888"/>
            <a:ext cx="9571038" cy="76835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mtClean="0"/>
              <a:t>Processes</a:t>
            </a:r>
            <a:endParaRPr 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62113"/>
            <a:ext cx="11056938" cy="5095875"/>
          </a:xfrm>
        </p:spPr>
        <p:txBody>
          <a:bodyPr/>
          <a:lstStyle/>
          <a:p>
            <a:r>
              <a:rPr lang="en-US" dirty="0" smtClean="0"/>
              <a:t>Process Concept</a:t>
            </a:r>
          </a:p>
          <a:p>
            <a:r>
              <a:rPr lang="en-US" dirty="0" smtClean="0"/>
              <a:t>Process Scheduling</a:t>
            </a:r>
          </a:p>
          <a:p>
            <a:r>
              <a:rPr lang="en-US" dirty="0" smtClean="0"/>
              <a:t>Operations on Processes</a:t>
            </a:r>
          </a:p>
          <a:p>
            <a:r>
              <a:rPr lang="en-US" dirty="0" err="1" smtClean="0"/>
              <a:t>Interprocess</a:t>
            </a:r>
            <a:r>
              <a:rPr lang="en-US" dirty="0" smtClean="0"/>
              <a:t> Communication</a:t>
            </a:r>
          </a:p>
          <a:p>
            <a:r>
              <a:rPr lang="en-US" dirty="0" smtClean="0"/>
              <a:t>Examples of IPC Systems</a:t>
            </a:r>
          </a:p>
          <a:p>
            <a:r>
              <a:rPr lang="en-US" dirty="0" smtClean="0"/>
              <a:t>Communication in Client-Server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Objectives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sz="quarter" idx="1"/>
          </p:nvPr>
        </p:nvSpPr>
        <p:spPr>
          <a:xfrm>
            <a:off x="1209675" y="1644650"/>
            <a:ext cx="10234613" cy="6040438"/>
          </a:xfrm>
        </p:spPr>
        <p:txBody>
          <a:bodyPr/>
          <a:lstStyle/>
          <a:p>
            <a:r>
              <a:rPr lang="en-US" dirty="0" smtClean="0"/>
              <a:t>To introduce the notion of a process -- a program in execution, which forms the basis of all computation</a:t>
            </a:r>
          </a:p>
          <a:p>
            <a:endParaRPr lang="en-US" dirty="0" smtClean="0"/>
          </a:p>
          <a:p>
            <a:r>
              <a:rPr lang="en-US" dirty="0" smtClean="0"/>
              <a:t>To describe the various features of processes, including scheduling, creation and termination, and communication</a:t>
            </a:r>
          </a:p>
          <a:p>
            <a:endParaRPr lang="en-US" dirty="0" smtClean="0"/>
          </a:p>
          <a:p>
            <a:r>
              <a:rPr lang="en-US" dirty="0" smtClean="0"/>
              <a:t>To describe communication in client-server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365375" y="369888"/>
            <a:ext cx="9159875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Process Concept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62113"/>
            <a:ext cx="11056938" cy="63817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An operating system executes a variety of programs: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Batch system – jobs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Time-shared systems – user programs or tasks</a:t>
            </a:r>
          </a:p>
          <a:p>
            <a:pPr lvl="1"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Textbook uses the terms </a:t>
            </a:r>
            <a:r>
              <a:rPr lang="en-US" i="1" dirty="0" smtClean="0"/>
              <a:t>job</a:t>
            </a:r>
            <a:r>
              <a:rPr lang="en-US" dirty="0" smtClean="0"/>
              <a:t> and </a:t>
            </a:r>
            <a:r>
              <a:rPr lang="en-US" i="1" dirty="0" smtClean="0"/>
              <a:t>process</a:t>
            </a:r>
            <a:r>
              <a:rPr lang="en-US" dirty="0" smtClean="0"/>
              <a:t> almost interchangeably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Process – a program in execution; process execution must progress in sequential fashion</a:t>
            </a: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A process includes: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program counter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stack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data section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Process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Multiple parts</a:t>
            </a:r>
          </a:p>
          <a:p>
            <a:pPr lvl="1"/>
            <a:r>
              <a:rPr lang="en-US" dirty="0" smtClean="0"/>
              <a:t>The program code, also called </a:t>
            </a:r>
            <a:r>
              <a:rPr lang="en-US" b="1" dirty="0" smtClean="0"/>
              <a:t>text section</a:t>
            </a:r>
          </a:p>
          <a:p>
            <a:pPr lvl="1"/>
            <a:r>
              <a:rPr lang="en-US" dirty="0" smtClean="0"/>
              <a:t>Current activity including </a:t>
            </a:r>
            <a:r>
              <a:rPr lang="en-US" b="1" dirty="0" smtClean="0"/>
              <a:t>program counter</a:t>
            </a:r>
            <a:r>
              <a:rPr lang="en-US" dirty="0" smtClean="0"/>
              <a:t>, processor registers</a:t>
            </a:r>
          </a:p>
          <a:p>
            <a:pPr lvl="1"/>
            <a:r>
              <a:rPr lang="en-US" b="1" dirty="0" smtClean="0"/>
              <a:t>Stack </a:t>
            </a:r>
            <a:r>
              <a:rPr lang="en-US" dirty="0" smtClean="0"/>
              <a:t>containing temporary data</a:t>
            </a:r>
          </a:p>
          <a:p>
            <a:pPr lvl="2"/>
            <a:r>
              <a:rPr lang="en-US" dirty="0" smtClean="0"/>
              <a:t>Function parameters, return addresses, local variables</a:t>
            </a:r>
          </a:p>
          <a:p>
            <a:pPr lvl="1"/>
            <a:r>
              <a:rPr lang="en-US" b="1" dirty="0" smtClean="0"/>
              <a:t>Data section </a:t>
            </a:r>
            <a:r>
              <a:rPr lang="en-US" dirty="0" smtClean="0"/>
              <a:t>containing global variables</a:t>
            </a:r>
          </a:p>
          <a:p>
            <a:pPr lvl="1"/>
            <a:r>
              <a:rPr lang="en-US" b="1" dirty="0" smtClean="0"/>
              <a:t>Heap </a:t>
            </a:r>
            <a:r>
              <a:rPr lang="en-US" dirty="0" smtClean="0"/>
              <a:t>containing memory dynamically allocated during run time</a:t>
            </a:r>
          </a:p>
          <a:p>
            <a:r>
              <a:rPr lang="en-US" dirty="0" smtClean="0"/>
              <a:t>Program is passive entity, process is active </a:t>
            </a:r>
          </a:p>
          <a:p>
            <a:pPr lvl="1"/>
            <a:r>
              <a:rPr lang="en-US" dirty="0" smtClean="0"/>
              <a:t>Program becomes process when executable file loaded into memory</a:t>
            </a:r>
          </a:p>
          <a:p>
            <a:r>
              <a:rPr lang="en-US" dirty="0" smtClean="0"/>
              <a:t>Execution of program started via GUI mouse clicks, command line entry of its name,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One program can be several processes</a:t>
            </a:r>
          </a:p>
          <a:p>
            <a:pPr lvl="1"/>
            <a:r>
              <a:rPr lang="en-US" dirty="0" smtClean="0"/>
              <a:t>Consider multiple users executing the same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Process in Memory</a:t>
            </a:r>
          </a:p>
        </p:txBody>
      </p:sp>
      <p:pic>
        <p:nvPicPr>
          <p:cNvPr id="819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10038" y="1903413"/>
            <a:ext cx="4367212" cy="613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041525" y="369888"/>
            <a:ext cx="9377363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Process State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62113"/>
            <a:ext cx="11056938" cy="4338637"/>
          </a:xfrm>
        </p:spPr>
        <p:txBody>
          <a:bodyPr/>
          <a:lstStyle/>
          <a:p>
            <a:r>
              <a:rPr lang="en-US" dirty="0" smtClean="0"/>
              <a:t>As a process executes, it changes </a:t>
            </a:r>
            <a:r>
              <a:rPr lang="en-US" i="1" dirty="0" smtClean="0"/>
              <a:t>state</a:t>
            </a:r>
            <a:endParaRPr lang="en-US" dirty="0" smtClean="0"/>
          </a:p>
          <a:p>
            <a:pPr lvl="1"/>
            <a:r>
              <a:rPr lang="en-US" b="1" dirty="0" smtClean="0"/>
              <a:t>new</a:t>
            </a:r>
            <a:r>
              <a:rPr lang="en-US" dirty="0" smtClean="0"/>
              <a:t>:  The process is being created</a:t>
            </a:r>
          </a:p>
          <a:p>
            <a:pPr lvl="1"/>
            <a:r>
              <a:rPr lang="en-US" b="1" dirty="0" smtClean="0"/>
              <a:t>running</a:t>
            </a:r>
            <a:r>
              <a:rPr lang="en-US" dirty="0" smtClean="0"/>
              <a:t>:  Instructions are being executed</a:t>
            </a:r>
          </a:p>
          <a:p>
            <a:pPr lvl="1"/>
            <a:r>
              <a:rPr lang="en-US" b="1" dirty="0" smtClean="0"/>
              <a:t>waiting</a:t>
            </a:r>
            <a:r>
              <a:rPr lang="en-US" dirty="0" smtClean="0"/>
              <a:t>:  The process is waiting for some event to occur</a:t>
            </a:r>
          </a:p>
          <a:p>
            <a:pPr lvl="1"/>
            <a:r>
              <a:rPr lang="en-US" b="1" dirty="0" smtClean="0"/>
              <a:t>ready</a:t>
            </a:r>
            <a:r>
              <a:rPr lang="en-US" dirty="0" smtClean="0"/>
              <a:t>:  The process is waiting to be assigned to a processor</a:t>
            </a:r>
          </a:p>
          <a:p>
            <a:pPr lvl="1"/>
            <a:r>
              <a:rPr lang="en-US" b="1" dirty="0" smtClean="0"/>
              <a:t>terminated</a:t>
            </a:r>
            <a:r>
              <a:rPr lang="en-US" dirty="0" smtClean="0"/>
              <a:t>:  The process has finished execution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09663" y="369888"/>
            <a:ext cx="11920537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Diagram of Process State</a:t>
            </a:r>
          </a:p>
        </p:txBody>
      </p:sp>
      <p:pic>
        <p:nvPicPr>
          <p:cNvPr id="10243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12875" y="2751138"/>
            <a:ext cx="11325225" cy="401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1013" y="369888"/>
            <a:ext cx="11279187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Process Control Block (PCB)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62113"/>
            <a:ext cx="11053763" cy="5095875"/>
          </a:xfrm>
        </p:spPr>
        <p:txBody>
          <a:bodyPr>
            <a:normAutofit lnSpcReduction="10000"/>
          </a:bodyPr>
          <a:lstStyle/>
          <a:p>
            <a:pPr>
              <a:buFont typeface="Monotype Sorts" charset="2"/>
              <a:buNone/>
            </a:pPr>
            <a:r>
              <a:rPr lang="en-US" smtClean="0"/>
              <a:t>Information associated with each process</a:t>
            </a:r>
          </a:p>
          <a:p>
            <a:r>
              <a:rPr lang="en-US" smtClean="0"/>
              <a:t>Process state</a:t>
            </a:r>
          </a:p>
          <a:p>
            <a:r>
              <a:rPr lang="en-US" smtClean="0"/>
              <a:t>Program counter</a:t>
            </a:r>
          </a:p>
          <a:p>
            <a:r>
              <a:rPr lang="en-US" smtClean="0"/>
              <a:t>CPU registers</a:t>
            </a:r>
          </a:p>
          <a:p>
            <a:r>
              <a:rPr lang="en-US" smtClean="0"/>
              <a:t>CPU scheduling information</a:t>
            </a:r>
          </a:p>
          <a:p>
            <a:r>
              <a:rPr lang="en-US" smtClean="0"/>
              <a:t>Memory-management information</a:t>
            </a:r>
          </a:p>
          <a:p>
            <a:r>
              <a:rPr lang="en-US" smtClean="0"/>
              <a:t>Accounting information</a:t>
            </a:r>
          </a:p>
          <a:p>
            <a:r>
              <a:rPr lang="en-US" smtClean="0"/>
              <a:t>I/O status information</a:t>
            </a:r>
          </a:p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400175" y="369888"/>
            <a:ext cx="11630025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Process Control Block (PCB)</a:t>
            </a:r>
          </a:p>
        </p:txBody>
      </p:sp>
      <p:pic>
        <p:nvPicPr>
          <p:cNvPr id="12291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57725" y="1652588"/>
            <a:ext cx="4614863" cy="658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369888"/>
            <a:ext cx="12344400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CPU Switch From Process to Process</a:t>
            </a:r>
          </a:p>
        </p:txBody>
      </p:sp>
      <p:pic>
        <p:nvPicPr>
          <p:cNvPr id="13315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6450" y="1830388"/>
            <a:ext cx="10453688" cy="624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62100" y="369888"/>
            <a:ext cx="11468100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Process Scheduling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12850" y="2000250"/>
            <a:ext cx="10463213" cy="5310188"/>
          </a:xfrm>
        </p:spPr>
        <p:txBody>
          <a:bodyPr>
            <a:normAutofit fontScale="92500" lnSpcReduction="10000"/>
          </a:bodyPr>
          <a:lstStyle/>
          <a:p>
            <a:r>
              <a:rPr lang="en-US" smtClean="0"/>
              <a:t>Maximize CPU use, quickly switch processes onto CPU for time sharing</a:t>
            </a:r>
          </a:p>
          <a:p>
            <a:r>
              <a:rPr lang="en-US" b="1" smtClean="0"/>
              <a:t>Process scheduler </a:t>
            </a:r>
            <a:r>
              <a:rPr lang="en-US" smtClean="0"/>
              <a:t>selects among available processes for next execution on CPU</a:t>
            </a:r>
          </a:p>
          <a:p>
            <a:r>
              <a:rPr lang="en-US" smtClean="0"/>
              <a:t>Maintains </a:t>
            </a:r>
            <a:r>
              <a:rPr lang="en-US" b="1" smtClean="0"/>
              <a:t>scheduling queues </a:t>
            </a:r>
            <a:r>
              <a:rPr lang="en-US" smtClean="0"/>
              <a:t>of processes</a:t>
            </a:r>
          </a:p>
          <a:p>
            <a:pPr lvl="1"/>
            <a:r>
              <a:rPr lang="en-US" b="1" smtClean="0"/>
              <a:t>Job queue</a:t>
            </a:r>
            <a:r>
              <a:rPr lang="en-US" smtClean="0"/>
              <a:t> – set of all processes in the system</a:t>
            </a:r>
          </a:p>
          <a:p>
            <a:pPr lvl="1"/>
            <a:r>
              <a:rPr lang="en-US" b="1" smtClean="0"/>
              <a:t>Ready queue </a:t>
            </a:r>
            <a:r>
              <a:rPr lang="en-US" smtClean="0"/>
              <a:t>– set of all processes residing in main memory, ready and waiting to execute</a:t>
            </a:r>
          </a:p>
          <a:p>
            <a:pPr lvl="1"/>
            <a:r>
              <a:rPr lang="en-US" b="1" smtClean="0"/>
              <a:t>Device queues </a:t>
            </a:r>
            <a:r>
              <a:rPr lang="en-US" smtClean="0"/>
              <a:t>– set of processes waiting for an I/O device</a:t>
            </a:r>
          </a:p>
          <a:p>
            <a:pPr lvl="1"/>
            <a:r>
              <a:rPr lang="en-US" smtClean="0"/>
              <a:t>Processes migrate among the various queues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62088" y="609600"/>
            <a:ext cx="119761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smtClean="0"/>
              <a:t>Ready Queue And Various </a:t>
            </a:r>
            <a:br>
              <a:rPr lang="en-US" sz="4000" smtClean="0"/>
            </a:br>
            <a:r>
              <a:rPr lang="en-US" sz="4000" smtClean="0"/>
              <a:t>I/O Device Queues</a:t>
            </a:r>
          </a:p>
        </p:txBody>
      </p:sp>
      <p:pic>
        <p:nvPicPr>
          <p:cNvPr id="16387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52713" y="1619250"/>
            <a:ext cx="8734425" cy="669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457325" y="369888"/>
            <a:ext cx="12344400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Representation of Process Scheduling</a:t>
            </a:r>
          </a:p>
        </p:txBody>
      </p:sp>
      <p:pic>
        <p:nvPicPr>
          <p:cNvPr id="17411" name="Picture 4" descr="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46188" y="1822450"/>
            <a:ext cx="10853737" cy="557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Schedulers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930400"/>
            <a:ext cx="10801350" cy="3452813"/>
          </a:xfrm>
        </p:spPr>
        <p:txBody>
          <a:bodyPr/>
          <a:lstStyle/>
          <a:p>
            <a:r>
              <a:rPr lang="en-US" b="1" smtClean="0">
                <a:solidFill>
                  <a:srgbClr val="000000"/>
                </a:solidFill>
              </a:rPr>
              <a:t>Long-term scheduler</a:t>
            </a:r>
            <a:r>
              <a:rPr lang="en-US" smtClean="0">
                <a:solidFill>
                  <a:srgbClr val="000000"/>
                </a:solidFill>
              </a:rPr>
              <a:t>  </a:t>
            </a:r>
            <a:r>
              <a:rPr lang="en-US" smtClean="0"/>
              <a:t>(or job scheduler) – selects which processes should be brought into the ready queue</a:t>
            </a:r>
          </a:p>
          <a:p>
            <a:r>
              <a:rPr lang="en-US" b="1" smtClean="0">
                <a:solidFill>
                  <a:srgbClr val="000000"/>
                </a:solidFill>
              </a:rPr>
              <a:t>Short-term scheduler</a:t>
            </a:r>
            <a:r>
              <a:rPr lang="en-US" smtClean="0">
                <a:solidFill>
                  <a:srgbClr val="000000"/>
                </a:solidFill>
              </a:rPr>
              <a:t>  </a:t>
            </a:r>
            <a:r>
              <a:rPr lang="en-US" smtClean="0"/>
              <a:t>(or CPU scheduler) – selects which process should be executed next and allocates CPU</a:t>
            </a:r>
          </a:p>
          <a:p>
            <a:pPr lvl="1"/>
            <a:r>
              <a:rPr lang="en-US" smtClean="0"/>
              <a:t>Sometimes the only scheduler in a system</a:t>
            </a:r>
          </a:p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Schedulers (Cont.)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44650"/>
            <a:ext cx="11689202" cy="604043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Short-term scheduler is invoked very frequently (milliseconds) </a:t>
            </a:r>
            <a:r>
              <a:rPr lang="en-US" dirty="0" smtClean="0">
                <a:sym typeface="Symbol" charset="2"/>
              </a:rPr>
              <a:t> (must be fast)</a:t>
            </a:r>
          </a:p>
          <a:p>
            <a:endParaRPr lang="en-US" sz="1100" dirty="0" smtClean="0">
              <a:sym typeface="Symbol" charset="2"/>
            </a:endParaRPr>
          </a:p>
          <a:p>
            <a:r>
              <a:rPr lang="en-US" dirty="0" smtClean="0">
                <a:sym typeface="Symbol" charset="2"/>
              </a:rPr>
              <a:t>Long-term scheduler is invoked very infrequently (seconds, minutes)  (may be slow)</a:t>
            </a:r>
          </a:p>
          <a:p>
            <a:endParaRPr lang="en-US" sz="1100" dirty="0" smtClean="0">
              <a:sym typeface="Symbol" charset="2"/>
            </a:endParaRPr>
          </a:p>
          <a:p>
            <a:r>
              <a:rPr lang="en-US" dirty="0" smtClean="0">
                <a:sym typeface="Symbol" charset="2"/>
              </a:rPr>
              <a:t>The long-term scheduler controls the </a:t>
            </a:r>
            <a:r>
              <a:rPr lang="en-US" i="1" dirty="0" smtClean="0">
                <a:sym typeface="Symbol" charset="2"/>
              </a:rPr>
              <a:t>degree of multiprogramming</a:t>
            </a:r>
          </a:p>
          <a:p>
            <a:endParaRPr lang="en-US" sz="1100" i="1" dirty="0" smtClean="0">
              <a:sym typeface="Symbol" charset="2"/>
            </a:endParaRPr>
          </a:p>
          <a:p>
            <a:r>
              <a:rPr lang="en-US" dirty="0" smtClean="0">
                <a:sym typeface="Symbol" charset="2"/>
              </a:rPr>
              <a:t>Processes can be described as either:</a:t>
            </a:r>
          </a:p>
          <a:p>
            <a:pPr lvl="1"/>
            <a:r>
              <a:rPr lang="en-US" b="1" dirty="0" smtClean="0">
                <a:solidFill>
                  <a:srgbClr val="000000"/>
                </a:solidFill>
                <a:sym typeface="Symbol" charset="2"/>
              </a:rPr>
              <a:t>I/O-bound process</a:t>
            </a:r>
            <a:r>
              <a:rPr lang="en-US" dirty="0" smtClean="0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 dirty="0" smtClean="0">
                <a:sym typeface="Symbol" charset="2"/>
              </a:rPr>
              <a:t>– spends more time doing I/O than computations, many short CPU bursts</a:t>
            </a:r>
          </a:p>
          <a:p>
            <a:pPr lvl="1"/>
            <a:r>
              <a:rPr lang="en-US" b="1" dirty="0" smtClean="0">
                <a:solidFill>
                  <a:srgbClr val="000000"/>
                </a:solidFill>
                <a:sym typeface="Symbol" charset="2"/>
              </a:rPr>
              <a:t>CPU-bound process</a:t>
            </a:r>
            <a:r>
              <a:rPr lang="en-US" dirty="0" smtClean="0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 dirty="0" smtClean="0">
                <a:sym typeface="Symbol" charset="2"/>
              </a:rPr>
              <a:t>– spends more time doing computations; few very long CPU bursts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393825" y="369888"/>
            <a:ext cx="12344400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Addition of Medium Term Scheduling</a:t>
            </a:r>
          </a:p>
        </p:txBody>
      </p:sp>
      <p:pic>
        <p:nvPicPr>
          <p:cNvPr id="20483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47813" y="2897188"/>
            <a:ext cx="10991850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Context Switch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44650"/>
            <a:ext cx="11220450" cy="5930900"/>
          </a:xfrm>
        </p:spPr>
        <p:txBody>
          <a:bodyPr>
            <a:normAutofit fontScale="85000" lnSpcReduction="20000"/>
          </a:bodyPr>
          <a:lstStyle/>
          <a:p>
            <a:r>
              <a:rPr lang="en-US" smtClean="0"/>
              <a:t>When CPU switches to another process, the system must save the state of the old process and load the saved state for the new process via a </a:t>
            </a:r>
            <a:r>
              <a:rPr lang="en-US" b="1" smtClean="0">
                <a:solidFill>
                  <a:srgbClr val="3366FF"/>
                </a:solidFill>
              </a:rPr>
              <a:t>context switch</a:t>
            </a:r>
            <a:r>
              <a:rPr lang="en-US" smtClean="0"/>
              <a:t>.</a:t>
            </a:r>
          </a:p>
          <a:p>
            <a:endParaRPr lang="en-US" smtClean="0"/>
          </a:p>
          <a:p>
            <a:r>
              <a:rPr lang="en-US" b="1" smtClean="0">
                <a:solidFill>
                  <a:srgbClr val="3366FF"/>
                </a:solidFill>
              </a:rPr>
              <a:t>Context </a:t>
            </a:r>
            <a:r>
              <a:rPr lang="en-US" smtClean="0"/>
              <a:t>of a process represented in the PCB</a:t>
            </a:r>
          </a:p>
          <a:p>
            <a:endParaRPr lang="en-US" smtClean="0"/>
          </a:p>
          <a:p>
            <a:r>
              <a:rPr lang="en-US" smtClean="0"/>
              <a:t>Context-switch time is overhead; the system does no useful work while switching</a:t>
            </a:r>
          </a:p>
          <a:p>
            <a:pPr lvl="1"/>
            <a:r>
              <a:rPr lang="en-US" smtClean="0"/>
              <a:t>The more complex the OS and the PCB -&gt; longer the context switch</a:t>
            </a:r>
          </a:p>
          <a:p>
            <a:endParaRPr lang="en-US" smtClean="0"/>
          </a:p>
          <a:p>
            <a:r>
              <a:rPr lang="en-US" smtClean="0"/>
              <a:t>Time dependent on hardware support</a:t>
            </a:r>
          </a:p>
          <a:p>
            <a:pPr lvl="1"/>
            <a:r>
              <a:rPr lang="en-US" smtClean="0"/>
              <a:t>Some hardware provides multiple sets of registers per CPU -&gt; multiple contexts loaded at once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Process Creation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44650"/>
            <a:ext cx="11410950" cy="67691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Parent </a:t>
            </a:r>
            <a:r>
              <a:rPr lang="en-US" dirty="0" smtClean="0"/>
              <a:t>process create </a:t>
            </a:r>
            <a:r>
              <a:rPr lang="en-US" b="1" dirty="0" smtClean="0"/>
              <a:t>children </a:t>
            </a:r>
            <a:r>
              <a:rPr lang="en-US" dirty="0" smtClean="0"/>
              <a:t>processes, which, in turn create other processes, forming a tree of processes</a:t>
            </a:r>
          </a:p>
          <a:p>
            <a:endParaRPr lang="en-US" sz="1100" dirty="0" smtClean="0"/>
          </a:p>
          <a:p>
            <a:r>
              <a:rPr lang="en-US" dirty="0" smtClean="0"/>
              <a:t>Generally, process identified and managed via </a:t>
            </a:r>
            <a:r>
              <a:rPr lang="en-US" b="1" dirty="0" smtClean="0"/>
              <a:t>a process identifier </a:t>
            </a:r>
            <a:r>
              <a:rPr lang="en-US" dirty="0" smtClean="0"/>
              <a:t>(</a:t>
            </a:r>
            <a:r>
              <a:rPr lang="en-US" b="1" dirty="0" err="1" smtClean="0"/>
              <a:t>pid</a:t>
            </a:r>
            <a:r>
              <a:rPr lang="en-US" dirty="0" smtClean="0"/>
              <a:t>)</a:t>
            </a:r>
          </a:p>
          <a:p>
            <a:endParaRPr lang="en-US" sz="1100" dirty="0" smtClean="0"/>
          </a:p>
          <a:p>
            <a:r>
              <a:rPr lang="en-US" dirty="0" smtClean="0"/>
              <a:t>Resource sharing</a:t>
            </a:r>
          </a:p>
          <a:p>
            <a:pPr lvl="1"/>
            <a:r>
              <a:rPr lang="en-US" dirty="0" smtClean="0"/>
              <a:t>Parent and children share all resources</a:t>
            </a:r>
          </a:p>
          <a:p>
            <a:pPr lvl="1"/>
            <a:r>
              <a:rPr lang="en-US" dirty="0" smtClean="0"/>
              <a:t>Children share subset of parent’s resources</a:t>
            </a:r>
          </a:p>
          <a:p>
            <a:pPr lvl="1"/>
            <a:r>
              <a:rPr lang="en-US" dirty="0" smtClean="0"/>
              <a:t>Parent and child share no resources</a:t>
            </a:r>
          </a:p>
          <a:p>
            <a:pPr lvl="1"/>
            <a:endParaRPr lang="en-US" sz="1100" dirty="0" smtClean="0"/>
          </a:p>
          <a:p>
            <a:r>
              <a:rPr lang="en-US" dirty="0" smtClean="0"/>
              <a:t>Execution</a:t>
            </a:r>
          </a:p>
          <a:p>
            <a:pPr lvl="1"/>
            <a:r>
              <a:rPr lang="en-US" dirty="0" smtClean="0"/>
              <a:t>Parent and children execute concurrently</a:t>
            </a:r>
          </a:p>
          <a:p>
            <a:pPr lvl="1"/>
            <a:r>
              <a:rPr lang="en-US" dirty="0" smtClean="0"/>
              <a:t>Parent waits until children terminate</a:t>
            </a:r>
          </a:p>
          <a:p>
            <a:pPr>
              <a:buFont typeface="Monotype Sorts" charset="2"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604963" y="369888"/>
            <a:ext cx="11425237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Process Creation (Cont.)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mtClean="0"/>
              <a:t>Address space</a:t>
            </a:r>
          </a:p>
          <a:p>
            <a:pPr lvl="1"/>
            <a:r>
              <a:rPr lang="en-US" smtClean="0"/>
              <a:t>Child duplicate of parent</a:t>
            </a:r>
          </a:p>
          <a:p>
            <a:pPr lvl="1"/>
            <a:r>
              <a:rPr lang="en-US" smtClean="0"/>
              <a:t>Child has a program loaded into it</a:t>
            </a:r>
          </a:p>
          <a:p>
            <a:pPr lvl="1"/>
            <a:endParaRPr lang="en-US" smtClean="0"/>
          </a:p>
          <a:p>
            <a:r>
              <a:rPr lang="en-US" smtClean="0"/>
              <a:t>UNIX examples</a:t>
            </a:r>
          </a:p>
          <a:p>
            <a:pPr lvl="1"/>
            <a:r>
              <a:rPr lang="en-US" b="1" smtClean="0"/>
              <a:t>fork</a:t>
            </a:r>
            <a:r>
              <a:rPr lang="en-US" smtClean="0"/>
              <a:t> system call creates new process</a:t>
            </a:r>
          </a:p>
          <a:p>
            <a:pPr lvl="1"/>
            <a:r>
              <a:rPr lang="en-US" b="1" smtClean="0"/>
              <a:t>exec</a:t>
            </a:r>
            <a:r>
              <a:rPr lang="en-US" smtClean="0"/>
              <a:t> system call used after a </a:t>
            </a:r>
            <a:r>
              <a:rPr lang="en-US" b="1" smtClean="0"/>
              <a:t>fork</a:t>
            </a:r>
            <a:r>
              <a:rPr lang="en-US" smtClean="0"/>
              <a:t> to replace the process’ memory space with a new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65275" y="369888"/>
            <a:ext cx="12344400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A Tree of Processes</a:t>
            </a:r>
          </a:p>
        </p:txBody>
      </p:sp>
      <p:pic>
        <p:nvPicPr>
          <p:cNvPr id="4" name="Picture 3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42809" y="1926077"/>
            <a:ext cx="10739336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Process Creation</a:t>
            </a:r>
          </a:p>
        </p:txBody>
      </p:sp>
      <p:pic>
        <p:nvPicPr>
          <p:cNvPr id="24579" name="Picture 4" descr="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5713" y="2840038"/>
            <a:ext cx="11253787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28738" y="369888"/>
            <a:ext cx="12344400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C Program Forking Separate Process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5345" y="1435100"/>
            <a:ext cx="11804073" cy="675322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#include &lt;sys/</a:t>
            </a:r>
            <a:r>
              <a:rPr kumimoji="0" lang="en-US" sz="3200" dirty="0" err="1" smtClean="0">
                <a:latin typeface="Monaco" charset="0"/>
              </a:rPr>
              <a:t>types.h</a:t>
            </a:r>
            <a:r>
              <a:rPr kumimoji="0" lang="en-US" sz="3200" dirty="0" smtClean="0">
                <a:latin typeface="Monaco" charset="0"/>
              </a:rPr>
              <a:t>&gt;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#include &lt;</a:t>
            </a:r>
            <a:r>
              <a:rPr kumimoji="0" lang="en-US" sz="3200" dirty="0" err="1" smtClean="0">
                <a:latin typeface="Monaco" charset="0"/>
              </a:rPr>
              <a:t>studio.h</a:t>
            </a:r>
            <a:r>
              <a:rPr kumimoji="0" lang="en-US" sz="3200" dirty="0" smtClean="0">
                <a:latin typeface="Monaco" charset="0"/>
              </a:rPr>
              <a:t>&gt;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#include &lt;</a:t>
            </a:r>
            <a:r>
              <a:rPr kumimoji="0" lang="en-US" sz="3200" dirty="0" err="1" smtClean="0">
                <a:latin typeface="Monaco" charset="0"/>
              </a:rPr>
              <a:t>unistd.h</a:t>
            </a:r>
            <a:r>
              <a:rPr kumimoji="0" lang="en-US" sz="3200" dirty="0" smtClean="0">
                <a:latin typeface="Monaco" charset="0"/>
              </a:rPr>
              <a:t>&gt;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err="1" smtClean="0">
                <a:latin typeface="Monaco" charset="0"/>
              </a:rPr>
              <a:t>int</a:t>
            </a:r>
            <a:r>
              <a:rPr kumimoji="0" lang="en-US" sz="3200" dirty="0" smtClean="0">
                <a:latin typeface="Monaco" charset="0"/>
              </a:rPr>
              <a:t> main()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{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err="1" smtClean="0">
                <a:latin typeface="Monaco" charset="0"/>
              </a:rPr>
              <a:t>pid_t</a:t>
            </a:r>
            <a:r>
              <a:rPr kumimoji="0" lang="en-US" sz="3200" dirty="0" smtClean="0">
                <a:latin typeface="Monaco" charset="0"/>
              </a:rPr>
              <a:t>  </a:t>
            </a:r>
            <a:r>
              <a:rPr kumimoji="0" lang="en-US" sz="3200" dirty="0" err="1" smtClean="0">
                <a:latin typeface="Monaco" charset="0"/>
              </a:rPr>
              <a:t>pid</a:t>
            </a:r>
            <a:r>
              <a:rPr kumimoji="0" lang="en-US" sz="3200" dirty="0" smtClean="0">
                <a:latin typeface="Monaco" charset="0"/>
              </a:rPr>
              <a:t>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	/* fork another process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	</a:t>
            </a:r>
            <a:r>
              <a:rPr kumimoji="0" lang="en-US" sz="3200" dirty="0" err="1" smtClean="0">
                <a:latin typeface="Monaco" charset="0"/>
              </a:rPr>
              <a:t>pid</a:t>
            </a:r>
            <a:r>
              <a:rPr kumimoji="0" lang="en-US" sz="3200" dirty="0" smtClean="0">
                <a:latin typeface="Monaco" charset="0"/>
              </a:rPr>
              <a:t> = fork();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	if (</a:t>
            </a:r>
            <a:r>
              <a:rPr kumimoji="0" lang="en-US" sz="3200" dirty="0" err="1" smtClean="0">
                <a:latin typeface="Monaco" charset="0"/>
              </a:rPr>
              <a:t>pid</a:t>
            </a:r>
            <a:r>
              <a:rPr kumimoji="0" lang="en-US" sz="3200" dirty="0" smtClean="0">
                <a:latin typeface="Monaco" charset="0"/>
              </a:rPr>
              <a:t> &lt; 0) { /* error occurred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		</a:t>
            </a:r>
            <a:r>
              <a:rPr kumimoji="0" lang="en-US" sz="3200" dirty="0" err="1" smtClean="0">
                <a:latin typeface="Monaco" charset="0"/>
              </a:rPr>
              <a:t>fprintf</a:t>
            </a:r>
            <a:r>
              <a:rPr kumimoji="0" lang="en-US" sz="3200" dirty="0" smtClean="0">
                <a:latin typeface="Monaco" charset="0"/>
              </a:rPr>
              <a:t>(</a:t>
            </a:r>
            <a:r>
              <a:rPr kumimoji="0" lang="en-US" sz="3200" dirty="0" err="1" smtClean="0">
                <a:latin typeface="Monaco" charset="0"/>
              </a:rPr>
              <a:t>stderr</a:t>
            </a:r>
            <a:r>
              <a:rPr kumimoji="0" lang="en-US" sz="3200" dirty="0" smtClean="0">
                <a:latin typeface="Monaco" charset="0"/>
              </a:rPr>
              <a:t>, "Fork Failed");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		return 1;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	}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	else if (</a:t>
            </a:r>
            <a:r>
              <a:rPr kumimoji="0" lang="en-US" sz="3200" dirty="0" err="1" smtClean="0">
                <a:latin typeface="Monaco" charset="0"/>
              </a:rPr>
              <a:t>pid</a:t>
            </a:r>
            <a:r>
              <a:rPr kumimoji="0" lang="en-US" sz="3200" dirty="0" smtClean="0">
                <a:latin typeface="Monaco" charset="0"/>
              </a:rPr>
              <a:t> == 0) { /* child process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		</a:t>
            </a:r>
            <a:r>
              <a:rPr kumimoji="0" lang="en-US" sz="3200" dirty="0" err="1" smtClean="0">
                <a:latin typeface="Monaco" charset="0"/>
              </a:rPr>
              <a:t>execlp</a:t>
            </a:r>
            <a:r>
              <a:rPr kumimoji="0" lang="en-US" sz="3200" dirty="0" smtClean="0">
                <a:latin typeface="Monaco" charset="0"/>
              </a:rPr>
              <a:t>("/bin/</a:t>
            </a:r>
            <a:r>
              <a:rPr kumimoji="0" lang="en-US" sz="3200" dirty="0" err="1" smtClean="0">
                <a:latin typeface="Monaco" charset="0"/>
              </a:rPr>
              <a:t>ls</a:t>
            </a:r>
            <a:r>
              <a:rPr kumimoji="0" lang="en-US" sz="3200" dirty="0" smtClean="0">
                <a:latin typeface="Monaco" charset="0"/>
              </a:rPr>
              <a:t>", "</a:t>
            </a:r>
            <a:r>
              <a:rPr kumimoji="0" lang="en-US" sz="3200" dirty="0" err="1" smtClean="0">
                <a:latin typeface="Monaco" charset="0"/>
              </a:rPr>
              <a:t>ls</a:t>
            </a:r>
            <a:r>
              <a:rPr kumimoji="0" lang="en-US" sz="3200" dirty="0" smtClean="0">
                <a:latin typeface="Monaco" charset="0"/>
              </a:rPr>
              <a:t>", NULL);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	}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	else { /* parent process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		/* parent will wait for the child */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		wait (NULL);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		</a:t>
            </a:r>
            <a:r>
              <a:rPr kumimoji="0" lang="en-US" sz="3200" dirty="0" err="1" smtClean="0">
                <a:latin typeface="Monaco" charset="0"/>
              </a:rPr>
              <a:t>printf</a:t>
            </a:r>
            <a:r>
              <a:rPr kumimoji="0" lang="en-US" sz="3200" dirty="0" smtClean="0">
                <a:latin typeface="Monaco" charset="0"/>
              </a:rPr>
              <a:t> ("Child Complete");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	}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	return 0;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kumimoji="0" lang="en-US" sz="3200" dirty="0" smtClean="0">
                <a:latin typeface="Monaco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Process Termination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9651" y="1644650"/>
            <a:ext cx="12898877" cy="670168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Process executes last statement and asks the operating system to delete it (</a:t>
            </a:r>
            <a:r>
              <a:rPr lang="en-US" b="1" dirty="0" smtClean="0"/>
              <a:t>exit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Output data from child to parent (via </a:t>
            </a:r>
            <a:r>
              <a:rPr lang="en-US" b="1" dirty="0" smtClean="0"/>
              <a:t>wait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Process’ resources are deallocated by operating system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Parent may terminate execution of children processes (</a:t>
            </a:r>
            <a:r>
              <a:rPr lang="en-US" b="1" dirty="0" smtClean="0"/>
              <a:t>abort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Child has exceeded allocated resources</a:t>
            </a:r>
          </a:p>
          <a:p>
            <a:pPr lvl="1"/>
            <a:r>
              <a:rPr lang="en-US" dirty="0" smtClean="0"/>
              <a:t>Task assigned to child is no longer required</a:t>
            </a:r>
          </a:p>
          <a:p>
            <a:pPr lvl="1"/>
            <a:r>
              <a:rPr lang="en-US" dirty="0" smtClean="0"/>
              <a:t>If parent is exiting</a:t>
            </a:r>
          </a:p>
          <a:p>
            <a:pPr lvl="2"/>
            <a:r>
              <a:rPr lang="en-US" dirty="0" smtClean="0"/>
              <a:t>Some operating systems do not allow child (orphan child) to continue if its parent terminates</a:t>
            </a:r>
          </a:p>
          <a:p>
            <a:pPr lvl="3"/>
            <a:r>
              <a:rPr lang="en-US" dirty="0" smtClean="0"/>
              <a:t>All children terminated - </a:t>
            </a:r>
            <a:r>
              <a:rPr lang="en-US" b="1" dirty="0" smtClean="0"/>
              <a:t>cascading termination</a:t>
            </a:r>
            <a:endParaRPr lang="en-US" b="1" dirty="0"/>
          </a:p>
          <a:p>
            <a:pPr lvl="3"/>
            <a:endParaRPr lang="en-US" b="1" dirty="0" smtClean="0"/>
          </a:p>
          <a:p>
            <a:pPr lvl="3"/>
            <a:r>
              <a:rPr lang="en-US" dirty="0"/>
              <a:t>A process that has terminated, but whose parent has not yet called wait(), is known as a </a:t>
            </a:r>
            <a:r>
              <a:rPr lang="en-US" b="1" dirty="0"/>
              <a:t>zombie </a:t>
            </a:r>
            <a:r>
              <a:rPr lang="en-US" dirty="0"/>
              <a:t>process.</a:t>
            </a:r>
            <a:endParaRPr lang="en-IN" dirty="0"/>
          </a:p>
          <a:p>
            <a:pPr lvl="3"/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474788" y="369888"/>
            <a:ext cx="11555412" cy="768350"/>
          </a:xfrm>
        </p:spPr>
        <p:txBody>
          <a:bodyPr>
            <a:normAutofit fontScale="90000"/>
          </a:bodyPr>
          <a:lstStyle/>
          <a:p>
            <a:r>
              <a:rPr lang="en-US" smtClean="0"/>
              <a:t>Interprocess Communication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sz="quarter" idx="1"/>
          </p:nvPr>
        </p:nvSpPr>
        <p:spPr>
          <a:xfrm>
            <a:off x="1229130" y="1586283"/>
            <a:ext cx="12058853" cy="7012967"/>
          </a:xfrm>
        </p:spPr>
        <p:txBody>
          <a:bodyPr>
            <a:normAutofit/>
          </a:bodyPr>
          <a:lstStyle/>
          <a:p>
            <a:r>
              <a:rPr lang="en-US" sz="3200" dirty="0" smtClean="0"/>
              <a:t>Processes within a system may be </a:t>
            </a:r>
            <a:r>
              <a:rPr lang="en-US" sz="3200" b="1" dirty="0" smtClean="0"/>
              <a:t>independent </a:t>
            </a:r>
            <a:r>
              <a:rPr lang="en-US" sz="3200" dirty="0" smtClean="0"/>
              <a:t>or </a:t>
            </a:r>
            <a:r>
              <a:rPr lang="en-US" sz="3200" b="1" dirty="0" smtClean="0"/>
              <a:t>cooperating</a:t>
            </a:r>
          </a:p>
          <a:p>
            <a:r>
              <a:rPr lang="en-US" sz="3200" dirty="0" smtClean="0"/>
              <a:t>Cooperating process can affect or be affected by other processes, including sharing data</a:t>
            </a:r>
          </a:p>
          <a:p>
            <a:r>
              <a:rPr lang="en-US" sz="3200" dirty="0" smtClean="0"/>
              <a:t>Reasons for cooperating processes:</a:t>
            </a:r>
          </a:p>
          <a:p>
            <a:pPr lvl="1"/>
            <a:r>
              <a:rPr lang="en-US" sz="3200" dirty="0" smtClean="0"/>
              <a:t>Information sharing</a:t>
            </a:r>
          </a:p>
          <a:p>
            <a:pPr lvl="1"/>
            <a:r>
              <a:rPr lang="en-US" sz="3200" dirty="0" smtClean="0"/>
              <a:t>Computation speedup</a:t>
            </a:r>
          </a:p>
          <a:p>
            <a:pPr lvl="1"/>
            <a:r>
              <a:rPr lang="en-US" sz="3200" dirty="0" smtClean="0"/>
              <a:t>Modularity</a:t>
            </a:r>
          </a:p>
          <a:p>
            <a:pPr lvl="1"/>
            <a:r>
              <a:rPr lang="en-US" sz="3200" dirty="0" smtClean="0"/>
              <a:t>Convenience	</a:t>
            </a:r>
          </a:p>
          <a:p>
            <a:r>
              <a:rPr lang="en-US" sz="3200" dirty="0" smtClean="0"/>
              <a:t>Cooperating processes need </a:t>
            </a:r>
            <a:r>
              <a:rPr lang="en-US" sz="3200" b="1" dirty="0" err="1" smtClean="0"/>
              <a:t>interprocess</a:t>
            </a:r>
            <a:r>
              <a:rPr lang="en-US" sz="3200" b="1" dirty="0" smtClean="0"/>
              <a:t> communication </a:t>
            </a:r>
            <a:r>
              <a:rPr lang="en-US" sz="3200" dirty="0" smtClean="0"/>
              <a:t>(</a:t>
            </a:r>
            <a:r>
              <a:rPr lang="en-US" sz="3200" b="1" dirty="0" smtClean="0"/>
              <a:t>IPC</a:t>
            </a:r>
            <a:r>
              <a:rPr lang="en-US" sz="3200" dirty="0" smtClean="0"/>
              <a:t>)</a:t>
            </a:r>
          </a:p>
          <a:p>
            <a:r>
              <a:rPr lang="en-US" sz="3200" dirty="0" smtClean="0"/>
              <a:t>Two models of IPC</a:t>
            </a:r>
          </a:p>
          <a:p>
            <a:pPr lvl="1"/>
            <a:r>
              <a:rPr lang="en-US" sz="3200" dirty="0" smtClean="0"/>
              <a:t>Shared memory</a:t>
            </a:r>
          </a:p>
          <a:p>
            <a:pPr lvl="1"/>
            <a:r>
              <a:rPr lang="en-US" sz="3200" dirty="0" smtClean="0"/>
              <a:t>Message passing</a:t>
            </a:r>
          </a:p>
          <a:p>
            <a:pPr lvl="1"/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Communications Models </a:t>
            </a:r>
          </a:p>
        </p:txBody>
      </p:sp>
      <p:pic>
        <p:nvPicPr>
          <p:cNvPr id="2969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47875" y="1944688"/>
            <a:ext cx="9680575" cy="571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90675" y="369888"/>
            <a:ext cx="11439525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Cooperating Processes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44650"/>
            <a:ext cx="11295063" cy="6040438"/>
          </a:xfrm>
        </p:spPr>
        <p:txBody>
          <a:bodyPr>
            <a:normAutofit fontScale="92500" lnSpcReduction="10000"/>
          </a:bodyPr>
          <a:lstStyle/>
          <a:p>
            <a:r>
              <a:rPr lang="en-US" b="1" smtClean="0"/>
              <a:t>Independent</a:t>
            </a:r>
            <a:r>
              <a:rPr lang="en-US" smtClean="0"/>
              <a:t> process cannot affect or be affected by the execution of another process</a:t>
            </a:r>
          </a:p>
          <a:p>
            <a:endParaRPr lang="en-US" smtClean="0"/>
          </a:p>
          <a:p>
            <a:r>
              <a:rPr lang="en-US" b="1" smtClean="0">
                <a:solidFill>
                  <a:srgbClr val="000000"/>
                </a:solidFill>
              </a:rPr>
              <a:t>Cooperating</a:t>
            </a:r>
            <a:r>
              <a:rPr lang="en-US" smtClean="0"/>
              <a:t> process can affect or be affected by the execution of another process</a:t>
            </a:r>
          </a:p>
          <a:p>
            <a:endParaRPr lang="en-US" smtClean="0"/>
          </a:p>
          <a:p>
            <a:r>
              <a:rPr lang="en-US" smtClean="0"/>
              <a:t>Advantages of process cooperation</a:t>
            </a:r>
          </a:p>
          <a:p>
            <a:pPr lvl="1"/>
            <a:r>
              <a:rPr lang="en-US" smtClean="0"/>
              <a:t>Information sharing </a:t>
            </a:r>
          </a:p>
          <a:p>
            <a:pPr lvl="1"/>
            <a:r>
              <a:rPr lang="en-US" smtClean="0"/>
              <a:t>Computation speed-up</a:t>
            </a:r>
          </a:p>
          <a:p>
            <a:pPr lvl="1"/>
            <a:r>
              <a:rPr lang="en-US" smtClean="0"/>
              <a:t>Modularity</a:t>
            </a:r>
          </a:p>
          <a:p>
            <a:pPr lvl="1"/>
            <a:r>
              <a:rPr lang="en-US" smtClean="0"/>
              <a:t>Convenience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23950" y="369888"/>
            <a:ext cx="11906250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Producer-Consumer Problem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41425" y="1881188"/>
            <a:ext cx="10002838" cy="5997575"/>
          </a:xfrm>
        </p:spPr>
        <p:txBody>
          <a:bodyPr/>
          <a:lstStyle/>
          <a:p>
            <a:r>
              <a:rPr lang="en-US" smtClean="0"/>
              <a:t>Paradigm for cooperating processes, </a:t>
            </a:r>
            <a:r>
              <a:rPr lang="en-US" i="1" smtClean="0"/>
              <a:t>producer</a:t>
            </a:r>
            <a:r>
              <a:rPr lang="en-US" smtClean="0"/>
              <a:t> process produces information that is consumed by a </a:t>
            </a:r>
            <a:r>
              <a:rPr lang="en-US" i="1" smtClean="0"/>
              <a:t>consumer</a:t>
            </a:r>
            <a:r>
              <a:rPr lang="en-US" smtClean="0"/>
              <a:t> process</a:t>
            </a:r>
          </a:p>
          <a:p>
            <a:pPr lvl="1"/>
            <a:r>
              <a:rPr lang="en-US" i="1" smtClean="0"/>
              <a:t>unbounded-buffer</a:t>
            </a:r>
            <a:r>
              <a:rPr lang="en-US" smtClean="0"/>
              <a:t> places no practical limit on the size of the buffer</a:t>
            </a:r>
          </a:p>
          <a:p>
            <a:pPr lvl="1"/>
            <a:r>
              <a:rPr lang="en-US" i="1" smtClean="0"/>
              <a:t>bounded-buffer</a:t>
            </a:r>
            <a:r>
              <a:rPr lang="en-US" smtClean="0"/>
              <a:t> assumes that there is a fixed buffer size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76350" y="560388"/>
            <a:ext cx="12111038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smtClean="0"/>
              <a:t>Bounded-Buffer – </a:t>
            </a:r>
            <a:br>
              <a:rPr lang="en-US" sz="4000" smtClean="0"/>
            </a:br>
            <a:r>
              <a:rPr lang="en-US" sz="4000" smtClean="0"/>
              <a:t>Shared-Memory Solution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93875" y="2024063"/>
            <a:ext cx="10696575" cy="6267450"/>
          </a:xfrm>
        </p:spPr>
        <p:txBody>
          <a:bodyPr/>
          <a:lstStyle/>
          <a:p>
            <a:r>
              <a:rPr lang="en-US" smtClean="0"/>
              <a:t>Shared data</a:t>
            </a:r>
          </a:p>
          <a:p>
            <a:pPr marL="2284413" lvl="3">
              <a:buFontTx/>
              <a:buNone/>
            </a:pPr>
            <a:r>
              <a:rPr lang="en-US" sz="2900" smtClean="0"/>
              <a:t>#define BUFFER_SIZE 10</a:t>
            </a:r>
          </a:p>
          <a:p>
            <a:pPr marL="2284413" lvl="3">
              <a:buFontTx/>
              <a:buNone/>
            </a:pPr>
            <a:r>
              <a:rPr lang="en-US" sz="2900" smtClean="0"/>
              <a:t>typedef struct {</a:t>
            </a:r>
          </a:p>
          <a:p>
            <a:pPr marL="2284413" lvl="3">
              <a:buFontTx/>
              <a:buNone/>
            </a:pPr>
            <a:r>
              <a:rPr lang="en-US" sz="2900" smtClean="0"/>
              <a:t>	. . .</a:t>
            </a:r>
          </a:p>
          <a:p>
            <a:pPr marL="2284413" lvl="3">
              <a:buFontTx/>
              <a:buNone/>
            </a:pPr>
            <a:r>
              <a:rPr lang="en-US" sz="2900" smtClean="0"/>
              <a:t>} item;</a:t>
            </a:r>
          </a:p>
          <a:p>
            <a:pPr marL="2284413" lvl="3">
              <a:buFontTx/>
              <a:buNone/>
            </a:pPr>
            <a:endParaRPr lang="en-US" sz="1100" smtClean="0"/>
          </a:p>
          <a:p>
            <a:pPr marL="2284413" lvl="3">
              <a:buFontTx/>
              <a:buNone/>
            </a:pPr>
            <a:r>
              <a:rPr lang="en-US" sz="2900" smtClean="0"/>
              <a:t>item buffer[BUFFER_SIZE];</a:t>
            </a:r>
          </a:p>
          <a:p>
            <a:pPr marL="2284413" lvl="3">
              <a:buFontTx/>
              <a:buNone/>
            </a:pPr>
            <a:r>
              <a:rPr lang="en-US" sz="2900" smtClean="0"/>
              <a:t>int in = 0;</a:t>
            </a:r>
          </a:p>
          <a:p>
            <a:pPr marL="2284413" lvl="3">
              <a:buFontTx/>
              <a:buNone/>
            </a:pPr>
            <a:r>
              <a:rPr lang="en-US" sz="2900" smtClean="0"/>
              <a:t>int out = 0;</a:t>
            </a:r>
          </a:p>
          <a:p>
            <a:pPr marL="2284413" lvl="3">
              <a:buFontTx/>
              <a:buNone/>
            </a:pPr>
            <a:endParaRPr lang="en-US" sz="1100" smtClean="0"/>
          </a:p>
          <a:p>
            <a:r>
              <a:rPr lang="en-US" smtClean="0"/>
              <a:t>Solution is correct, but can only use BUFFER_SIZE-1 elements</a:t>
            </a:r>
          </a:p>
          <a:p>
            <a:pPr marL="2284413" lvl="3">
              <a:buFontTx/>
              <a:buNone/>
            </a:pPr>
            <a:endParaRPr lang="en-US" sz="29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69888"/>
            <a:ext cx="11353800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Bounded-Buffer – Producer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65238" y="1905000"/>
            <a:ext cx="11026775" cy="5976938"/>
          </a:xfrm>
        </p:spPr>
        <p:txBody>
          <a:bodyPr/>
          <a:lstStyle/>
          <a:p>
            <a:pPr>
              <a:buFont typeface="Monotype Sorts" charset="2"/>
              <a:buNone/>
            </a:pPr>
            <a:endParaRPr lang="en-US" sz="2900" dirty="0" smtClean="0">
              <a:latin typeface="Monaco" charset="0"/>
            </a:endParaRPr>
          </a:p>
          <a:p>
            <a:pPr>
              <a:buFont typeface="Monotype Sorts" charset="2"/>
              <a:buNone/>
            </a:pPr>
            <a:r>
              <a:rPr lang="en-US" sz="2900" dirty="0" smtClean="0">
                <a:latin typeface="Monaco" charset="0"/>
              </a:rPr>
              <a:t>	while (true) {</a:t>
            </a:r>
            <a:br>
              <a:rPr lang="en-US" sz="2900" dirty="0" smtClean="0">
                <a:latin typeface="Monaco" charset="0"/>
              </a:rPr>
            </a:br>
            <a:r>
              <a:rPr lang="en-US" sz="2900" dirty="0" smtClean="0">
                <a:latin typeface="Monaco" charset="0"/>
              </a:rPr>
              <a:t>   /* Produce an item */</a:t>
            </a:r>
          </a:p>
          <a:p>
            <a:pPr>
              <a:buFont typeface="Monotype Sorts" charset="2"/>
              <a:buNone/>
            </a:pPr>
            <a:r>
              <a:rPr lang="en-US" sz="2900" dirty="0" smtClean="0">
                <a:latin typeface="Monaco" charset="0"/>
              </a:rPr>
              <a:t>        while (((in = (in + 1) % BUFFER SIZE)  == out)</a:t>
            </a:r>
          </a:p>
          <a:p>
            <a:pPr>
              <a:buFont typeface="Monotype Sorts" charset="2"/>
              <a:buNone/>
            </a:pPr>
            <a:r>
              <a:rPr lang="en-US" sz="2900" dirty="0" smtClean="0">
                <a:latin typeface="Monaco" charset="0"/>
              </a:rPr>
              <a:t>	     ;   /* do nothing -- no free buffers */</a:t>
            </a:r>
          </a:p>
          <a:p>
            <a:pPr>
              <a:buFont typeface="Monotype Sorts" charset="2"/>
              <a:buNone/>
            </a:pPr>
            <a:r>
              <a:rPr lang="en-US" sz="2900" dirty="0" smtClean="0">
                <a:latin typeface="Monaco" charset="0"/>
              </a:rPr>
              <a:t>	    buffer[in] = item;</a:t>
            </a:r>
          </a:p>
          <a:p>
            <a:pPr>
              <a:buFont typeface="Monotype Sorts" charset="2"/>
              <a:buNone/>
            </a:pPr>
            <a:r>
              <a:rPr lang="en-US" sz="2900" dirty="0" smtClean="0">
                <a:latin typeface="Monaco" charset="0"/>
              </a:rPr>
              <a:t>	    in = (in + 1) % BUFFER SIZE;</a:t>
            </a:r>
          </a:p>
          <a:p>
            <a:pPr>
              <a:buFont typeface="Monotype Sorts" charset="2"/>
              <a:buNone/>
            </a:pPr>
            <a:r>
              <a:rPr lang="en-US" sz="2900" dirty="0" smtClean="0">
                <a:latin typeface="Monaco" charset="0"/>
              </a:rPr>
              <a:t>     }</a:t>
            </a:r>
          </a:p>
          <a:p>
            <a:pPr>
              <a:buFont typeface="Monotype Sorts" charset="2"/>
              <a:buNone/>
            </a:pPr>
            <a:endParaRPr lang="en-US" sz="2900" dirty="0" smtClean="0">
              <a:latin typeface="Monaco" charset="0"/>
            </a:endParaRPr>
          </a:p>
          <a:p>
            <a:pPr>
              <a:buFont typeface="Monotype Sorts" charset="2"/>
              <a:buNone/>
            </a:pPr>
            <a:endParaRPr lang="en-US" sz="2900" dirty="0" smtClean="0"/>
          </a:p>
          <a:p>
            <a:pPr>
              <a:buFont typeface="Monotype Sorts" charset="2"/>
              <a:buNone/>
            </a:pPr>
            <a:r>
              <a:rPr lang="en-US" sz="2300" dirty="0" smtClean="0"/>
              <a:t>	</a:t>
            </a:r>
          </a:p>
          <a:p>
            <a:pPr marL="10240963" lvl="4">
              <a:buFontTx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Bounded Buffer – Consumer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714625" y="2000250"/>
            <a:ext cx="9237663" cy="5881688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smtClean="0">
                <a:latin typeface="Monaco" charset="0"/>
              </a:rPr>
              <a:t>	</a:t>
            </a:r>
            <a:r>
              <a:rPr lang="en-US" sz="2900" smtClean="0">
                <a:latin typeface="Monaco" charset="0"/>
              </a:rPr>
              <a:t>while (true) {</a:t>
            </a:r>
          </a:p>
          <a:p>
            <a:pPr>
              <a:buFont typeface="Monotype Sorts" charset="2"/>
              <a:buNone/>
            </a:pPr>
            <a:r>
              <a:rPr lang="en-US" sz="2900" smtClean="0">
                <a:latin typeface="Monaco" charset="0"/>
              </a:rPr>
              <a:t>          while (in == out)</a:t>
            </a:r>
          </a:p>
          <a:p>
            <a:pPr>
              <a:buFont typeface="Monotype Sorts" charset="2"/>
              <a:buNone/>
            </a:pPr>
            <a:r>
              <a:rPr lang="en-US" sz="2900" smtClean="0">
                <a:latin typeface="Monaco" charset="0"/>
              </a:rPr>
              <a:t>                 ; // do nothing -- nothing to consume</a:t>
            </a:r>
          </a:p>
          <a:p>
            <a:pPr>
              <a:buFont typeface="Monotype Sorts" charset="2"/>
              <a:buNone/>
            </a:pPr>
            <a:endParaRPr lang="en-US" sz="2900" smtClean="0">
              <a:latin typeface="Monaco" charset="0"/>
            </a:endParaRPr>
          </a:p>
          <a:p>
            <a:pPr>
              <a:buFont typeface="Monotype Sorts" charset="2"/>
              <a:buNone/>
            </a:pPr>
            <a:r>
              <a:rPr lang="en-US" sz="2900" smtClean="0">
                <a:latin typeface="Monaco" charset="0"/>
              </a:rPr>
              <a:t>	     // remove an item from the buffer</a:t>
            </a:r>
          </a:p>
          <a:p>
            <a:pPr>
              <a:buFont typeface="Monotype Sorts" charset="2"/>
              <a:buNone/>
            </a:pPr>
            <a:r>
              <a:rPr lang="en-US" sz="2900" smtClean="0">
                <a:latin typeface="Monaco" charset="0"/>
              </a:rPr>
              <a:t>	     item = buffer[out];</a:t>
            </a:r>
          </a:p>
          <a:p>
            <a:pPr>
              <a:buFont typeface="Monotype Sorts" charset="2"/>
              <a:buNone/>
            </a:pPr>
            <a:r>
              <a:rPr lang="en-US" sz="2900" smtClean="0">
                <a:latin typeface="Monaco" charset="0"/>
              </a:rPr>
              <a:t>	     out = (out + 1) % BUFFER SIZE;</a:t>
            </a:r>
          </a:p>
          <a:p>
            <a:pPr>
              <a:buFont typeface="Monotype Sorts" charset="2"/>
              <a:buNone/>
            </a:pPr>
            <a:r>
              <a:rPr lang="en-US" sz="2900" smtClean="0">
                <a:latin typeface="Monaco" charset="0"/>
              </a:rPr>
              <a:t>	return item;</a:t>
            </a:r>
          </a:p>
          <a:p>
            <a:pPr>
              <a:buFont typeface="Monotype Sorts" charset="2"/>
              <a:buNone/>
            </a:pPr>
            <a:r>
              <a:rPr lang="en-US" sz="2900" i="1" smtClean="0">
                <a:latin typeface="Monaco" charset="0"/>
              </a:rPr>
              <a:t>     </a:t>
            </a:r>
            <a:r>
              <a:rPr lang="en-US" sz="2900" smtClean="0">
                <a:latin typeface="Monaco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922338" y="395288"/>
            <a:ext cx="12344400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smtClean="0"/>
              <a:t>Interprocess Communication – </a:t>
            </a:r>
            <a:br>
              <a:rPr lang="en-US" sz="3600" smtClean="0"/>
            </a:br>
            <a:r>
              <a:rPr lang="en-US" sz="3600" smtClean="0"/>
              <a:t>Message Passing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44650"/>
            <a:ext cx="11542713" cy="6040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/>
              <a:t>Mechanism for processes to communicate and to synchronize their actions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Message system – processes communicate with each other without resorting to shared variables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sz="2800" b="1" dirty="0" smtClean="0"/>
              <a:t>send</a:t>
            </a:r>
            <a:r>
              <a:rPr lang="en-US" sz="2800" dirty="0" smtClean="0"/>
              <a:t>(</a:t>
            </a:r>
            <a:r>
              <a:rPr lang="en-US" sz="2800" i="1" dirty="0" smtClean="0"/>
              <a:t>message</a:t>
            </a:r>
            <a:r>
              <a:rPr lang="en-US" sz="2800" dirty="0" smtClean="0"/>
              <a:t>) – message size fixed or variable </a:t>
            </a:r>
          </a:p>
          <a:p>
            <a:pPr lvl="1">
              <a:lnSpc>
                <a:spcPct val="90000"/>
              </a:lnSpc>
            </a:pPr>
            <a:r>
              <a:rPr lang="en-US" sz="2800" b="1" dirty="0" smtClean="0"/>
              <a:t>receive</a:t>
            </a:r>
            <a:r>
              <a:rPr lang="en-US" sz="2800" dirty="0" smtClean="0"/>
              <a:t>(</a:t>
            </a:r>
            <a:r>
              <a:rPr lang="en-US" sz="2800" i="1" dirty="0" smtClean="0"/>
              <a:t>message</a:t>
            </a:r>
            <a:r>
              <a:rPr lang="en-US" sz="2800" dirty="0" smtClean="0"/>
              <a:t>)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If </a:t>
            </a:r>
            <a:r>
              <a:rPr lang="en-US" sz="2800" i="1" dirty="0" smtClean="0"/>
              <a:t>P</a:t>
            </a:r>
            <a:r>
              <a:rPr lang="en-US" sz="2800" dirty="0" smtClean="0"/>
              <a:t> and </a:t>
            </a:r>
            <a:r>
              <a:rPr lang="en-US" sz="2800" i="1" dirty="0" smtClean="0"/>
              <a:t>Q</a:t>
            </a:r>
            <a:r>
              <a:rPr lang="en-US" sz="2800" dirty="0" smtClean="0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sz="2800" dirty="0" smtClean="0"/>
              <a:t>establish a </a:t>
            </a:r>
            <a:r>
              <a:rPr lang="en-US" sz="2800" i="1" dirty="0" smtClean="0"/>
              <a:t>communication</a:t>
            </a:r>
            <a:r>
              <a:rPr lang="en-US" sz="2800" dirty="0" smtClean="0"/>
              <a:t> </a:t>
            </a:r>
            <a:r>
              <a:rPr lang="en-US" sz="2800" i="1" dirty="0" smtClean="0"/>
              <a:t>link</a:t>
            </a:r>
            <a:r>
              <a:rPr lang="en-US" sz="2800" dirty="0" smtClean="0"/>
              <a:t> between them</a:t>
            </a:r>
          </a:p>
          <a:p>
            <a:pPr lvl="1">
              <a:lnSpc>
                <a:spcPct val="90000"/>
              </a:lnSpc>
            </a:pPr>
            <a:r>
              <a:rPr lang="en-US" sz="2800" dirty="0" smtClean="0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Implementation of communication link</a:t>
            </a:r>
          </a:p>
          <a:p>
            <a:pPr lvl="1">
              <a:lnSpc>
                <a:spcPct val="90000"/>
              </a:lnSpc>
            </a:pPr>
            <a:r>
              <a:rPr lang="en-US" sz="2800" dirty="0" smtClean="0"/>
              <a:t>physical (e.g., shared memory, hardware bus)</a:t>
            </a:r>
          </a:p>
          <a:p>
            <a:pPr lvl="1">
              <a:lnSpc>
                <a:spcPct val="90000"/>
              </a:lnSpc>
            </a:pPr>
            <a:r>
              <a:rPr lang="en-US" sz="2800" dirty="0" smtClean="0"/>
              <a:t>logical (e.g., logical properties)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604963" y="369888"/>
            <a:ext cx="11425237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Implementation Questions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44650"/>
            <a:ext cx="11499850" cy="6040438"/>
          </a:xfrm>
        </p:spPr>
        <p:txBody>
          <a:bodyPr/>
          <a:lstStyle/>
          <a:p>
            <a:r>
              <a:rPr lang="en-US" smtClean="0"/>
              <a:t>How are links established?</a:t>
            </a:r>
          </a:p>
          <a:p>
            <a:r>
              <a:rPr lang="en-US" smtClean="0"/>
              <a:t>Can a link be associated with more than two processes?</a:t>
            </a:r>
          </a:p>
          <a:p>
            <a:r>
              <a:rPr lang="en-US" smtClean="0"/>
              <a:t>How many links can there be between every pair of communicating processes?</a:t>
            </a:r>
          </a:p>
          <a:p>
            <a:r>
              <a:rPr lang="en-US" smtClean="0"/>
              <a:t>What is the capacity of a link?</a:t>
            </a:r>
          </a:p>
          <a:p>
            <a:r>
              <a:rPr lang="en-US" smtClean="0"/>
              <a:t>Is the size of a message that the link can accommodate fixed or variable?</a:t>
            </a:r>
          </a:p>
          <a:p>
            <a:r>
              <a:rPr lang="en-US" smtClean="0"/>
              <a:t>Is a link unidirectional or bi-directional?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Direct Communication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44650"/>
            <a:ext cx="11453813" cy="6040438"/>
          </a:xfrm>
        </p:spPr>
        <p:txBody>
          <a:bodyPr/>
          <a:lstStyle/>
          <a:p>
            <a:r>
              <a:rPr lang="en-US" smtClean="0"/>
              <a:t>Processes must name each other explicitly:</a:t>
            </a:r>
          </a:p>
          <a:p>
            <a:pPr lvl="1"/>
            <a:r>
              <a:rPr lang="en-US" b="1" smtClean="0"/>
              <a:t>send</a:t>
            </a:r>
            <a:r>
              <a:rPr lang="en-US" smtClean="0"/>
              <a:t> (</a:t>
            </a:r>
            <a:r>
              <a:rPr lang="en-US" i="1" smtClean="0"/>
              <a:t>P, message</a:t>
            </a:r>
            <a:r>
              <a:rPr lang="en-US" smtClean="0"/>
              <a:t>) – send a message to process P</a:t>
            </a:r>
          </a:p>
          <a:p>
            <a:pPr lvl="1"/>
            <a:r>
              <a:rPr lang="en-US" b="1" smtClean="0"/>
              <a:t>receive</a:t>
            </a:r>
            <a:r>
              <a:rPr lang="en-US" smtClean="0"/>
              <a:t>(</a:t>
            </a:r>
            <a:r>
              <a:rPr lang="en-US" i="1" smtClean="0"/>
              <a:t>Q, message</a:t>
            </a:r>
            <a:r>
              <a:rPr lang="en-US" smtClean="0"/>
              <a:t>) – receive a message from process Q</a:t>
            </a:r>
          </a:p>
          <a:p>
            <a:pPr lvl="1"/>
            <a:endParaRPr lang="en-US" smtClean="0"/>
          </a:p>
          <a:p>
            <a:r>
              <a:rPr lang="en-US" smtClean="0"/>
              <a:t>Properties of communication link</a:t>
            </a:r>
          </a:p>
          <a:p>
            <a:pPr lvl="1"/>
            <a:r>
              <a:rPr lang="en-US" smtClean="0"/>
              <a:t>Links are established automatically</a:t>
            </a:r>
          </a:p>
          <a:p>
            <a:pPr lvl="1"/>
            <a:r>
              <a:rPr lang="en-US" smtClean="0"/>
              <a:t>A link is associated with exactly one pair of communicating processes</a:t>
            </a:r>
          </a:p>
          <a:p>
            <a:pPr lvl="1"/>
            <a:r>
              <a:rPr lang="en-US" smtClean="0"/>
              <a:t>Between each pair there exists exactly one link</a:t>
            </a:r>
          </a:p>
          <a:p>
            <a:pPr lvl="1"/>
            <a:r>
              <a:rPr lang="en-US" smtClean="0"/>
              <a:t>The link may be unidirectional, but is usually bi-directional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Indirect Communication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62113"/>
            <a:ext cx="11395075" cy="5545137"/>
          </a:xfrm>
        </p:spPr>
        <p:txBody>
          <a:bodyPr>
            <a:normAutofit lnSpcReduction="10000"/>
          </a:bodyPr>
          <a:lstStyle/>
          <a:p>
            <a:r>
              <a:rPr lang="en-US" smtClean="0"/>
              <a:t>Messages are directed and received from mailboxes (also referred to as ports)</a:t>
            </a:r>
          </a:p>
          <a:p>
            <a:pPr lvl="1"/>
            <a:r>
              <a:rPr lang="en-US" smtClean="0"/>
              <a:t>Each mailbox has a unique id</a:t>
            </a:r>
          </a:p>
          <a:p>
            <a:pPr lvl="1"/>
            <a:r>
              <a:rPr lang="en-US" smtClean="0"/>
              <a:t>Processes can communicate only if they share a mailbox</a:t>
            </a:r>
          </a:p>
          <a:p>
            <a:pPr lvl="1"/>
            <a:endParaRPr lang="en-US" smtClean="0"/>
          </a:p>
          <a:p>
            <a:r>
              <a:rPr lang="en-US" smtClean="0"/>
              <a:t>Properties of communication link</a:t>
            </a:r>
          </a:p>
          <a:p>
            <a:pPr lvl="1"/>
            <a:r>
              <a:rPr lang="en-US" smtClean="0"/>
              <a:t>Link established only if processes share a common mailbox</a:t>
            </a:r>
          </a:p>
          <a:p>
            <a:pPr lvl="1"/>
            <a:r>
              <a:rPr lang="en-US" smtClean="0"/>
              <a:t>A link may be associated with many processes</a:t>
            </a:r>
          </a:p>
          <a:p>
            <a:pPr lvl="1"/>
            <a:r>
              <a:rPr lang="en-US" smtClean="0"/>
              <a:t>Each pair of processes may share several communication links</a:t>
            </a:r>
          </a:p>
          <a:p>
            <a:pPr lvl="1"/>
            <a:r>
              <a:rPr lang="en-US" smtClean="0"/>
              <a:t>Link may be unidirectional or bi-directional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Indirect Communication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62113"/>
            <a:ext cx="11371263" cy="5094287"/>
          </a:xfrm>
        </p:spPr>
        <p:txBody>
          <a:bodyPr/>
          <a:lstStyle/>
          <a:p>
            <a:r>
              <a:rPr lang="en-US" smtClean="0"/>
              <a:t>Operations</a:t>
            </a:r>
          </a:p>
          <a:p>
            <a:pPr lvl="1"/>
            <a:r>
              <a:rPr lang="en-US" smtClean="0"/>
              <a:t>create a new mailbox</a:t>
            </a:r>
          </a:p>
          <a:p>
            <a:pPr lvl="1"/>
            <a:r>
              <a:rPr lang="en-US" smtClean="0"/>
              <a:t>send and receive messages through mailbox</a:t>
            </a:r>
          </a:p>
          <a:p>
            <a:pPr lvl="1"/>
            <a:r>
              <a:rPr lang="en-US" smtClean="0"/>
              <a:t>destroy a mailbox</a:t>
            </a:r>
          </a:p>
          <a:p>
            <a:pPr lvl="1"/>
            <a:endParaRPr lang="en-US" smtClean="0"/>
          </a:p>
          <a:p>
            <a:r>
              <a:rPr lang="en-US" smtClean="0"/>
              <a:t>Primitives are defined as:</a:t>
            </a:r>
          </a:p>
          <a:p>
            <a:pPr>
              <a:buFont typeface="Monotype Sorts" charset="2"/>
              <a:buNone/>
            </a:pPr>
            <a:r>
              <a:rPr lang="en-US" smtClean="0"/>
              <a:t>	</a:t>
            </a:r>
            <a:r>
              <a:rPr lang="en-US" b="1" smtClean="0"/>
              <a:t>send</a:t>
            </a:r>
            <a:r>
              <a:rPr lang="en-US" smtClean="0"/>
              <a:t>(</a:t>
            </a:r>
            <a:r>
              <a:rPr lang="en-US" i="1" smtClean="0"/>
              <a:t>A, message</a:t>
            </a:r>
            <a:r>
              <a:rPr lang="en-US" smtClean="0"/>
              <a:t>) – send a message to mailbox A</a:t>
            </a:r>
          </a:p>
          <a:p>
            <a:pPr>
              <a:buFont typeface="Monotype Sorts" charset="2"/>
              <a:buNone/>
            </a:pPr>
            <a:r>
              <a:rPr lang="en-US" smtClean="0"/>
              <a:t>	</a:t>
            </a:r>
            <a:r>
              <a:rPr lang="en-US" b="1" smtClean="0"/>
              <a:t>receive</a:t>
            </a:r>
            <a:r>
              <a:rPr lang="en-US" smtClean="0"/>
              <a:t>(</a:t>
            </a:r>
            <a:r>
              <a:rPr lang="en-US" i="1" smtClean="0"/>
              <a:t>A, message</a:t>
            </a:r>
            <a:r>
              <a:rPr lang="en-US" smtClean="0"/>
              <a:t>) – receive a message from mailbox 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14450" y="369888"/>
            <a:ext cx="11715750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Indirect Communication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44650"/>
            <a:ext cx="11542713" cy="6040438"/>
          </a:xfrm>
        </p:spPr>
        <p:txBody>
          <a:bodyPr/>
          <a:lstStyle/>
          <a:p>
            <a:r>
              <a:rPr lang="en-US" smtClean="0"/>
              <a:t>Mailbox sharing</a:t>
            </a:r>
          </a:p>
          <a:p>
            <a:pPr lvl="1"/>
            <a:r>
              <a:rPr lang="en-US" i="1" smtClean="0"/>
              <a:t>P</a:t>
            </a:r>
            <a:r>
              <a:rPr lang="en-US" i="1" baseline="-25000" smtClean="0"/>
              <a:t>1</a:t>
            </a:r>
            <a:r>
              <a:rPr lang="en-US" i="1" smtClean="0"/>
              <a:t>, P</a:t>
            </a:r>
            <a:r>
              <a:rPr lang="en-US" i="1" baseline="-25000" smtClean="0"/>
              <a:t>2</a:t>
            </a:r>
            <a:r>
              <a:rPr lang="en-US" i="1" smtClean="0"/>
              <a:t>,</a:t>
            </a:r>
            <a:r>
              <a:rPr lang="en-US" smtClean="0"/>
              <a:t> and</a:t>
            </a:r>
            <a:r>
              <a:rPr lang="en-US" i="1" smtClean="0"/>
              <a:t> P</a:t>
            </a:r>
            <a:r>
              <a:rPr lang="en-US" i="1" baseline="-25000" smtClean="0"/>
              <a:t>3</a:t>
            </a:r>
            <a:r>
              <a:rPr lang="en-US" smtClean="0"/>
              <a:t> share mailbox A</a:t>
            </a:r>
          </a:p>
          <a:p>
            <a:pPr lvl="1"/>
            <a:r>
              <a:rPr lang="en-US" i="1" smtClean="0"/>
              <a:t>P</a:t>
            </a:r>
            <a:r>
              <a:rPr lang="en-US" i="1" baseline="-25000" smtClean="0"/>
              <a:t>1</a:t>
            </a:r>
            <a:r>
              <a:rPr lang="en-US" smtClean="0"/>
              <a:t>, sends; </a:t>
            </a:r>
            <a:r>
              <a:rPr lang="en-US" i="1" smtClean="0"/>
              <a:t>P</a:t>
            </a:r>
            <a:r>
              <a:rPr lang="en-US" i="1" baseline="-25000" smtClean="0"/>
              <a:t>2</a:t>
            </a:r>
            <a:r>
              <a:rPr lang="en-US" i="1" smtClean="0"/>
              <a:t> </a:t>
            </a:r>
            <a:r>
              <a:rPr lang="en-US" smtClean="0"/>
              <a:t>and</a:t>
            </a:r>
            <a:r>
              <a:rPr lang="en-US" i="1" smtClean="0"/>
              <a:t> P</a:t>
            </a:r>
            <a:r>
              <a:rPr lang="en-US" i="1" baseline="-25000" smtClean="0"/>
              <a:t>3</a:t>
            </a:r>
            <a:r>
              <a:rPr lang="en-US" smtClean="0"/>
              <a:t> receive</a:t>
            </a:r>
          </a:p>
          <a:p>
            <a:pPr lvl="1"/>
            <a:r>
              <a:rPr lang="en-US" smtClean="0"/>
              <a:t>Who gets the message?</a:t>
            </a:r>
          </a:p>
          <a:p>
            <a:pPr lvl="1"/>
            <a:endParaRPr lang="en-US" smtClean="0"/>
          </a:p>
          <a:p>
            <a:r>
              <a:rPr lang="en-US" smtClean="0"/>
              <a:t>Solutions</a:t>
            </a:r>
          </a:p>
          <a:p>
            <a:pPr lvl="1"/>
            <a:r>
              <a:rPr lang="en-US" smtClean="0"/>
              <a:t>Allow a link to be associated with at most two processes</a:t>
            </a:r>
          </a:p>
          <a:p>
            <a:pPr lvl="1"/>
            <a:r>
              <a:rPr lang="en-US" smtClean="0"/>
              <a:t>Allow only one process at a time to execute a receive operation</a:t>
            </a:r>
          </a:p>
          <a:p>
            <a:pPr lvl="1"/>
            <a:r>
              <a:rPr lang="en-US" smtClean="0"/>
              <a:t>Allow the system to select arbitrarily the receiver.  Sender is notified who the receiver was.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Synchronization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44650"/>
            <a:ext cx="11204575" cy="6040438"/>
          </a:xfrm>
        </p:spPr>
        <p:txBody>
          <a:bodyPr>
            <a:normAutofit fontScale="92500"/>
          </a:bodyPr>
          <a:lstStyle/>
          <a:p>
            <a:pPr marL="542925" indent="-542925"/>
            <a:r>
              <a:rPr lang="en-US" dirty="0" smtClean="0"/>
              <a:t>Message passing may be either blocking or non-blocking</a:t>
            </a:r>
          </a:p>
          <a:p>
            <a:pPr marL="542925" indent="-542925"/>
            <a:endParaRPr lang="en-US" dirty="0" smtClean="0"/>
          </a:p>
          <a:p>
            <a:pPr marL="542925" indent="-542925"/>
            <a:r>
              <a:rPr lang="en-US" b="1" dirty="0" smtClean="0"/>
              <a:t>Blocking</a:t>
            </a:r>
            <a:r>
              <a:rPr lang="en-US" dirty="0" smtClean="0"/>
              <a:t> is considered </a:t>
            </a:r>
            <a:r>
              <a:rPr lang="en-US" b="1" dirty="0" smtClean="0"/>
              <a:t>synchronous</a:t>
            </a:r>
          </a:p>
          <a:p>
            <a:pPr marL="1141413" lvl="1" indent="-488950"/>
            <a:r>
              <a:rPr lang="en-US" b="1" dirty="0" smtClean="0"/>
              <a:t>Blocking send </a:t>
            </a:r>
            <a:r>
              <a:rPr lang="en-US" dirty="0" smtClean="0"/>
              <a:t>has the sender block until the message is received</a:t>
            </a:r>
          </a:p>
          <a:p>
            <a:pPr marL="1141413" lvl="1" indent="-488950"/>
            <a:r>
              <a:rPr lang="en-US" b="1" dirty="0" smtClean="0"/>
              <a:t>Blocking receive </a:t>
            </a:r>
            <a:r>
              <a:rPr lang="en-US" dirty="0" smtClean="0"/>
              <a:t>has the receiver block until a message is available</a:t>
            </a:r>
          </a:p>
          <a:p>
            <a:pPr marL="1141413" lvl="1" indent="-488950"/>
            <a:endParaRPr lang="en-US" dirty="0" smtClean="0"/>
          </a:p>
          <a:p>
            <a:pPr marL="542925" indent="-542925"/>
            <a:r>
              <a:rPr lang="en-US" b="1" dirty="0" smtClean="0"/>
              <a:t>Non-blocking</a:t>
            </a:r>
            <a:r>
              <a:rPr lang="en-US" dirty="0" smtClean="0"/>
              <a:t> is considered </a:t>
            </a:r>
            <a:r>
              <a:rPr lang="en-US" b="1" dirty="0" smtClean="0"/>
              <a:t>asynchronous</a:t>
            </a:r>
          </a:p>
          <a:p>
            <a:pPr marL="1141413" lvl="1" indent="-488950"/>
            <a:r>
              <a:rPr lang="en-US" b="1" dirty="0" smtClean="0"/>
              <a:t>Non-blocking send </a:t>
            </a:r>
            <a:r>
              <a:rPr lang="en-US" dirty="0" smtClean="0"/>
              <a:t>has the sender send the message and continue</a:t>
            </a:r>
          </a:p>
          <a:p>
            <a:pPr marL="1141413" lvl="1" indent="-488950"/>
            <a:r>
              <a:rPr lang="en-US" b="1" dirty="0" smtClean="0"/>
              <a:t>Non-blocking receive </a:t>
            </a:r>
            <a:r>
              <a:rPr lang="en-US" dirty="0" smtClean="0"/>
              <a:t>has the receiver receive a valid message or null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Buffering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44650"/>
            <a:ext cx="11290300" cy="6040438"/>
          </a:xfrm>
        </p:spPr>
        <p:txBody>
          <a:bodyPr/>
          <a:lstStyle/>
          <a:p>
            <a:r>
              <a:rPr lang="en-US" smtClean="0"/>
              <a:t>Queue of messages attached to the link; implemented in one of three ways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solidFill>
                  <a:srgbClr val="CC6600"/>
                </a:solidFill>
              </a:rPr>
              <a:t>1.</a:t>
            </a:r>
            <a:r>
              <a:rPr lang="en-US" smtClean="0"/>
              <a:t>	Zero capacity – 0 messages</a:t>
            </a:r>
            <a:br>
              <a:rPr lang="en-US" smtClean="0"/>
            </a:br>
            <a:r>
              <a:rPr lang="en-US" smtClean="0"/>
              <a:t>Sender must wait for receiver (rendezvous)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solidFill>
                  <a:srgbClr val="CC6600"/>
                </a:solidFill>
              </a:rPr>
              <a:t>2.</a:t>
            </a:r>
            <a:r>
              <a:rPr lang="en-US" smtClean="0"/>
              <a:t>	Bounded capacity – finite length of </a:t>
            </a:r>
            <a:r>
              <a:rPr lang="en-US" i="1" smtClean="0"/>
              <a:t>n</a:t>
            </a:r>
            <a:r>
              <a:rPr lang="en-US" smtClean="0"/>
              <a:t> messages</a:t>
            </a:r>
            <a:br>
              <a:rPr lang="en-US" smtClean="0"/>
            </a:br>
            <a:r>
              <a:rPr lang="en-US" smtClean="0"/>
              <a:t>Sender must wait if link full</a:t>
            </a:r>
          </a:p>
          <a:p>
            <a:pPr lvl="1">
              <a:buFont typeface="Monotype Sorts" charset="2"/>
              <a:buNone/>
            </a:pPr>
            <a:r>
              <a:rPr lang="en-US" smtClean="0">
                <a:solidFill>
                  <a:srgbClr val="CC6600"/>
                </a:solidFill>
              </a:rPr>
              <a:t>3.</a:t>
            </a:r>
            <a:r>
              <a:rPr lang="en-US" smtClean="0"/>
              <a:t>	Unbounded capacity – infinite length </a:t>
            </a:r>
            <a:br>
              <a:rPr lang="en-US" smtClean="0"/>
            </a:br>
            <a:r>
              <a:rPr lang="en-US" smtClean="0"/>
              <a:t>Sender never waits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08100" y="369888"/>
            <a:ext cx="12344400" cy="7683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smtClean="0"/>
              <a:t>Communications in Client-Server Systems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mtClean="0"/>
              <a:t>Sockets</a:t>
            </a:r>
          </a:p>
          <a:p>
            <a:endParaRPr lang="en-US" smtClean="0"/>
          </a:p>
          <a:p>
            <a:r>
              <a:rPr lang="en-US" smtClean="0"/>
              <a:t>Remote Procedure Calls</a:t>
            </a:r>
          </a:p>
          <a:p>
            <a:endParaRPr lang="en-US" smtClean="0"/>
          </a:p>
          <a:p>
            <a:r>
              <a:rPr lang="en-US" smtClean="0"/>
              <a:t>Pipes</a:t>
            </a:r>
          </a:p>
          <a:p>
            <a:endParaRPr lang="en-US" smtClean="0"/>
          </a:p>
          <a:p>
            <a:r>
              <a:rPr lang="en-US" smtClean="0"/>
              <a:t>Remote Method Invocation (Java)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Sockets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44650"/>
            <a:ext cx="10466388" cy="6040438"/>
          </a:xfrm>
        </p:spPr>
        <p:txBody>
          <a:bodyPr/>
          <a:lstStyle/>
          <a:p>
            <a:r>
              <a:rPr lang="en-US" smtClean="0"/>
              <a:t>A </a:t>
            </a:r>
            <a:r>
              <a:rPr lang="en-US" b="1" smtClean="0">
                <a:solidFill>
                  <a:srgbClr val="0000FF"/>
                </a:solidFill>
              </a:rPr>
              <a:t>socket </a:t>
            </a:r>
            <a:r>
              <a:rPr lang="en-US" smtClean="0"/>
              <a:t>is defined as an </a:t>
            </a:r>
            <a:r>
              <a:rPr lang="en-US" i="1" smtClean="0"/>
              <a:t>endpoint for communication</a:t>
            </a:r>
          </a:p>
          <a:p>
            <a:endParaRPr lang="en-US" smtClean="0"/>
          </a:p>
          <a:p>
            <a:r>
              <a:rPr lang="en-US" smtClean="0"/>
              <a:t>Concatenation of IP address and port</a:t>
            </a:r>
          </a:p>
          <a:p>
            <a:endParaRPr lang="en-US" smtClean="0"/>
          </a:p>
          <a:p>
            <a:r>
              <a:rPr lang="en-US" smtClean="0"/>
              <a:t>The socket </a:t>
            </a:r>
            <a:r>
              <a:rPr lang="en-US" b="1" smtClean="0"/>
              <a:t>161.25.19.8:1625</a:t>
            </a:r>
            <a:r>
              <a:rPr lang="en-US" smtClean="0"/>
              <a:t> refers to port </a:t>
            </a:r>
            <a:r>
              <a:rPr lang="en-US" b="1" smtClean="0"/>
              <a:t>1625</a:t>
            </a:r>
            <a:r>
              <a:rPr lang="en-US" smtClean="0"/>
              <a:t> on host </a:t>
            </a:r>
            <a:r>
              <a:rPr lang="en-US" b="1" smtClean="0"/>
              <a:t>161.25.19.8</a:t>
            </a:r>
          </a:p>
          <a:p>
            <a:endParaRPr lang="en-US" b="1" smtClean="0"/>
          </a:p>
          <a:p>
            <a:r>
              <a:rPr lang="en-US" smtClean="0"/>
              <a:t>Communication consists between a pair of sockets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Socket Communication</a:t>
            </a:r>
          </a:p>
        </p:txBody>
      </p:sp>
      <p:pic>
        <p:nvPicPr>
          <p:cNvPr id="5017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79638" y="1989138"/>
            <a:ext cx="9705975" cy="590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Remote Procedure Calls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44650"/>
            <a:ext cx="11410950" cy="604043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Remote procedure call (RPC) abstracts procedure calls between processes on networked systems</a:t>
            </a:r>
          </a:p>
          <a:p>
            <a:endParaRPr lang="en-US" dirty="0" smtClean="0"/>
          </a:p>
          <a:p>
            <a:r>
              <a:rPr lang="en-US" b="1" dirty="0" smtClean="0"/>
              <a:t>Stubs</a:t>
            </a:r>
            <a:r>
              <a:rPr lang="en-US" dirty="0" smtClean="0"/>
              <a:t> – client-side proxy for the actual procedure on the server</a:t>
            </a:r>
          </a:p>
          <a:p>
            <a:endParaRPr lang="en-US" dirty="0" smtClean="0"/>
          </a:p>
          <a:p>
            <a:r>
              <a:rPr lang="en-US" dirty="0" smtClean="0"/>
              <a:t>The client-side stub locates the server and </a:t>
            </a:r>
            <a:r>
              <a:rPr lang="en-US" i="1" dirty="0" err="1" smtClean="0"/>
              <a:t>marshalls</a:t>
            </a:r>
            <a:r>
              <a:rPr lang="en-US" dirty="0" smtClean="0"/>
              <a:t> the parameters</a:t>
            </a:r>
          </a:p>
          <a:p>
            <a:endParaRPr lang="en-US" dirty="0" smtClean="0"/>
          </a:p>
          <a:p>
            <a:r>
              <a:rPr lang="en-US" dirty="0" smtClean="0"/>
              <a:t>The server-side stub receives this message, unpacks the marshalled parameters, and performs the procedure on the server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Execution of RPC</a:t>
            </a:r>
          </a:p>
        </p:txBody>
      </p:sp>
      <p:pic>
        <p:nvPicPr>
          <p:cNvPr id="52227" name="Picture 6" descr="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7413" y="1354138"/>
            <a:ext cx="6630987" cy="709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Pipes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09675" y="1644650"/>
            <a:ext cx="11352213" cy="6040438"/>
          </a:xfrm>
        </p:spPr>
        <p:txBody>
          <a:bodyPr/>
          <a:lstStyle/>
          <a:p>
            <a:r>
              <a:rPr lang="en-US" smtClean="0"/>
              <a:t>Acts as a conduit allowing two processes to communicate</a:t>
            </a:r>
          </a:p>
          <a:p>
            <a:endParaRPr lang="en-US" smtClean="0"/>
          </a:p>
          <a:p>
            <a:r>
              <a:rPr lang="en-US" b="1" smtClean="0"/>
              <a:t>Issues</a:t>
            </a:r>
          </a:p>
          <a:p>
            <a:pPr lvl="1"/>
            <a:r>
              <a:rPr lang="en-US" smtClean="0"/>
              <a:t>Is communication unidirectional or bidirectional?</a:t>
            </a:r>
          </a:p>
          <a:p>
            <a:pPr lvl="1"/>
            <a:r>
              <a:rPr lang="en-US" smtClean="0"/>
              <a:t>In the case of two-way communication, is it half or full-duplex?</a:t>
            </a:r>
          </a:p>
          <a:p>
            <a:pPr lvl="1"/>
            <a:r>
              <a:rPr lang="en-US" smtClean="0"/>
              <a:t>Must there exist a relationship (i.e. parent-child) between the communicating processes?</a:t>
            </a:r>
          </a:p>
          <a:p>
            <a:pPr lvl="1"/>
            <a:r>
              <a:rPr lang="en-US" smtClean="0"/>
              <a:t>Can the pipes be used over a network?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Ordinary Pipes</a:t>
            </a:r>
          </a:p>
        </p:txBody>
      </p:sp>
      <p:sp>
        <p:nvSpPr>
          <p:cNvPr id="54275" name="Content Placeholder 7"/>
          <p:cNvSpPr>
            <a:spLocks noGrp="1"/>
          </p:cNvSpPr>
          <p:nvPr>
            <p:ph sz="quarter" idx="1"/>
          </p:nvPr>
        </p:nvSpPr>
        <p:spPr>
          <a:xfrm>
            <a:off x="1209675" y="1644650"/>
            <a:ext cx="11309350" cy="6040438"/>
          </a:xfrm>
        </p:spPr>
        <p:txBody>
          <a:bodyPr>
            <a:normAutofit fontScale="92500"/>
          </a:bodyPr>
          <a:lstStyle/>
          <a:p>
            <a:r>
              <a:rPr lang="en-US" b="1" smtClean="0"/>
              <a:t>Ordinary Pipes </a:t>
            </a:r>
            <a:r>
              <a:rPr lang="en-US" smtClean="0"/>
              <a:t>allow communication in standard producer-consumer style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Producer writes to one end (the </a:t>
            </a:r>
            <a:r>
              <a:rPr lang="en-US" i="1" smtClean="0"/>
              <a:t>write-end </a:t>
            </a:r>
            <a:r>
              <a:rPr lang="en-US" smtClean="0"/>
              <a:t>of the pipe)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Consumer reads from the other end (the </a:t>
            </a:r>
            <a:r>
              <a:rPr lang="en-US" i="1" smtClean="0"/>
              <a:t>read-end </a:t>
            </a:r>
            <a:r>
              <a:rPr lang="en-US" smtClean="0"/>
              <a:t>of the pipe)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Ordinary pipes are therefore unidirectional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Require parent-child relationship between communicating processes</a:t>
            </a:r>
          </a:p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Ordinary Pipes</a:t>
            </a:r>
          </a:p>
        </p:txBody>
      </p:sp>
      <p:pic>
        <p:nvPicPr>
          <p:cNvPr id="55299" name="Picture 4" descr="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50" y="3016250"/>
            <a:ext cx="11268075" cy="277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Named Pipes</a:t>
            </a:r>
          </a:p>
        </p:txBody>
      </p:sp>
      <p:sp>
        <p:nvSpPr>
          <p:cNvPr id="56323" name="Content Placeholder 7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Named Pipes are more powerful than ordinary pipes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Communication is bidirectional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No parent-child relationship is necessary between the communicating processes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Several processes can use the named pipe for communication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Provided on both UNIX and Windows systems</a:t>
            </a:r>
          </a:p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5646</TotalTime>
  <Words>1621</Words>
  <Application>Microsoft Office PowerPoint</Application>
  <PresentationFormat>Custom</PresentationFormat>
  <Paragraphs>334</Paragraphs>
  <Slides>48</Slides>
  <Notes>47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Equity</vt:lpstr>
      <vt:lpstr>Processes</vt:lpstr>
      <vt:lpstr>Processes</vt:lpstr>
      <vt:lpstr>Objectives</vt:lpstr>
      <vt:lpstr>Process Concept</vt:lpstr>
      <vt:lpstr>The Process</vt:lpstr>
      <vt:lpstr>Process in Memory</vt:lpstr>
      <vt:lpstr>Process State</vt:lpstr>
      <vt:lpstr>Diagram of Process State</vt:lpstr>
      <vt:lpstr>Process Control Block (PCB)</vt:lpstr>
      <vt:lpstr>Process Control Block (PCB)</vt:lpstr>
      <vt:lpstr>CPU Switch From Process to Process</vt:lpstr>
      <vt:lpstr>Process Scheduling</vt:lpstr>
      <vt:lpstr>Ready Queue And Various  I/O Device Queues</vt:lpstr>
      <vt:lpstr>Representation of Process Scheduling</vt:lpstr>
      <vt:lpstr>Schedulers</vt:lpstr>
      <vt:lpstr>Schedulers (Cont.)</vt:lpstr>
      <vt:lpstr>Addition of Medium Term Scheduling</vt:lpstr>
      <vt:lpstr>Context Switch</vt:lpstr>
      <vt:lpstr>Process Creation</vt:lpstr>
      <vt:lpstr>Process Creation (Cont.)</vt:lpstr>
      <vt:lpstr>A Tree of Processes</vt:lpstr>
      <vt:lpstr>Process Creation</vt:lpstr>
      <vt:lpstr>C Program Forking Separate Process</vt:lpstr>
      <vt:lpstr>Process Termination</vt:lpstr>
      <vt:lpstr>Interprocess Communication</vt:lpstr>
      <vt:lpstr>Communications Models </vt:lpstr>
      <vt:lpstr>Cooperating Processes</vt:lpstr>
      <vt:lpstr>Producer-Consumer Problem</vt:lpstr>
      <vt:lpstr>Bounded-Buffer –  Shared-Memory Solution</vt:lpstr>
      <vt:lpstr>Bounded-Buffer – Producer</vt:lpstr>
      <vt:lpstr>Bounded Buffer – Consumer</vt:lpstr>
      <vt:lpstr>Interprocess Communication –  Message Passing</vt:lpstr>
      <vt:lpstr>Implementation Questions</vt:lpstr>
      <vt:lpstr>Direct Communication</vt:lpstr>
      <vt:lpstr>Indirect Communication</vt:lpstr>
      <vt:lpstr>Indirect Communication</vt:lpstr>
      <vt:lpstr>Indirect Communication</vt:lpstr>
      <vt:lpstr>Synchronization</vt:lpstr>
      <vt:lpstr>Buffering</vt:lpstr>
      <vt:lpstr>Communications in Client-Server Systems</vt:lpstr>
      <vt:lpstr>Sockets</vt:lpstr>
      <vt:lpstr>Socket Communication</vt:lpstr>
      <vt:lpstr>Remote Procedure Calls</vt:lpstr>
      <vt:lpstr>Execution of RPC</vt:lpstr>
      <vt:lpstr>Pipes</vt:lpstr>
      <vt:lpstr>Ordinary Pipes</vt:lpstr>
      <vt:lpstr>Ordinary Pipes</vt:lpstr>
      <vt:lpstr>Named Pipes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 Processes</dc:title>
  <dc:creator>Marilyn Turnamian</dc:creator>
  <cp:lastModifiedBy>Admin</cp:lastModifiedBy>
  <cp:revision>181</cp:revision>
  <cp:lastPrinted>2011-01-14T21:21:29Z</cp:lastPrinted>
  <dcterms:created xsi:type="dcterms:W3CDTF">2011-01-14T20:24:54Z</dcterms:created>
  <dcterms:modified xsi:type="dcterms:W3CDTF">2025-07-22T07:33:31Z</dcterms:modified>
</cp:coreProperties>
</file>